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309" r:id="rId3"/>
    <p:sldId id="313" r:id="rId4"/>
    <p:sldId id="328" r:id="rId5"/>
    <p:sldId id="310" r:id="rId6"/>
    <p:sldId id="312" r:id="rId7"/>
    <p:sldId id="314" r:id="rId8"/>
    <p:sldId id="333" r:id="rId9"/>
    <p:sldId id="337" r:id="rId10"/>
    <p:sldId id="315" r:id="rId11"/>
    <p:sldId id="335" r:id="rId12"/>
    <p:sldId id="316" r:id="rId13"/>
    <p:sldId id="339" r:id="rId14"/>
    <p:sldId id="329" r:id="rId15"/>
    <p:sldId id="340" r:id="rId16"/>
    <p:sldId id="331" r:id="rId17"/>
    <p:sldId id="332" r:id="rId18"/>
    <p:sldId id="322" r:id="rId19"/>
    <p:sldId id="32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08A5E"/>
    <a:srgbClr val="222E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82" autoAdjust="0"/>
    <p:restoredTop sz="91656" autoAdjust="0"/>
  </p:normalViewPr>
  <p:slideViewPr>
    <p:cSldViewPr>
      <p:cViewPr varScale="1">
        <p:scale>
          <a:sx n="75" d="100"/>
          <a:sy n="75" d="100"/>
        </p:scale>
        <p:origin x="1094" y="77"/>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8FEE75-A6B2-4555-979B-B7EED2C25559}" type="datetimeFigureOut">
              <a:rPr lang="en-US" smtClean="0"/>
              <a:pPr/>
              <a:t>10/10/2025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706D8E-F031-488D-90E2-B228AF72B154}" type="slidenum">
              <a:rPr lang="en-US" smtClean="0"/>
              <a:pPr/>
              <a:t>‹#›</a:t>
            </a:fld>
            <a:endParaRPr lang="en-US" dirty="0"/>
          </a:p>
        </p:txBody>
      </p:sp>
    </p:spTree>
    <p:extLst>
      <p:ext uri="{BB962C8B-B14F-4D97-AF65-F5344CB8AC3E}">
        <p14:creationId xmlns:p14="http://schemas.microsoft.com/office/powerpoint/2010/main" val="2933818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8706D8E-F031-488D-90E2-B228AF72B154}" type="slidenum">
              <a:rPr lang="en-US" smtClean="0"/>
              <a:pPr/>
              <a:t>14</a:t>
            </a:fld>
            <a:endParaRPr lang="en-US" dirty="0"/>
          </a:p>
        </p:txBody>
      </p:sp>
    </p:spTree>
    <p:extLst>
      <p:ext uri="{BB962C8B-B14F-4D97-AF65-F5344CB8AC3E}">
        <p14:creationId xmlns:p14="http://schemas.microsoft.com/office/powerpoint/2010/main" val="1442759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3BD19-D034-13DF-AA56-07DDFE514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EC94E-3620-5CFB-D067-3C15A7D720F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03BF80E-5D40-5AA4-59F3-92BCBF66ADD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CCB992E-6260-D368-DBDD-2F5A21BF5899}"/>
              </a:ext>
            </a:extLst>
          </p:cNvPr>
          <p:cNvSpPr>
            <a:spLocks noGrp="1"/>
          </p:cNvSpPr>
          <p:nvPr>
            <p:ph type="sldNum" sz="quarter" idx="5"/>
          </p:nvPr>
        </p:nvSpPr>
        <p:spPr/>
        <p:txBody>
          <a:bodyPr/>
          <a:lstStyle/>
          <a:p>
            <a:fld id="{78706D8E-F031-488D-90E2-B228AF72B154}" type="slidenum">
              <a:rPr lang="en-US" smtClean="0"/>
              <a:pPr/>
              <a:t>15</a:t>
            </a:fld>
            <a:endParaRPr lang="en-US" dirty="0"/>
          </a:p>
        </p:txBody>
      </p:sp>
    </p:spTree>
    <p:extLst>
      <p:ext uri="{BB962C8B-B14F-4D97-AF65-F5344CB8AC3E}">
        <p14:creationId xmlns:p14="http://schemas.microsoft.com/office/powerpoint/2010/main" val="2275289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1664C-9431-AF2D-ADEA-716A7F456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D42D1-BEDE-3A5A-E5F7-30628ECE57F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1DB3570-535B-7334-7781-69843C6C6E4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10D01F0-AF90-871E-2772-2D66BDDAE06D}"/>
              </a:ext>
            </a:extLst>
          </p:cNvPr>
          <p:cNvSpPr>
            <a:spLocks noGrp="1"/>
          </p:cNvSpPr>
          <p:nvPr>
            <p:ph type="sldNum" sz="quarter" idx="5"/>
          </p:nvPr>
        </p:nvSpPr>
        <p:spPr/>
        <p:txBody>
          <a:bodyPr/>
          <a:lstStyle/>
          <a:p>
            <a:fld id="{78706D8E-F031-488D-90E2-B228AF72B154}" type="slidenum">
              <a:rPr lang="en-US" smtClean="0"/>
              <a:pPr/>
              <a:t>16</a:t>
            </a:fld>
            <a:endParaRPr lang="en-US" dirty="0"/>
          </a:p>
        </p:txBody>
      </p:sp>
    </p:spTree>
    <p:extLst>
      <p:ext uri="{BB962C8B-B14F-4D97-AF65-F5344CB8AC3E}">
        <p14:creationId xmlns:p14="http://schemas.microsoft.com/office/powerpoint/2010/main" val="3942659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84687-6DA4-001F-0A33-5A0CEB60C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4E9F5-104B-6CE1-DD55-6EFCCAA4FD5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324171E-976B-9FC0-705E-413FD5FC3C4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0E2805-8431-56C7-BFA2-706169E492ED}"/>
              </a:ext>
            </a:extLst>
          </p:cNvPr>
          <p:cNvSpPr>
            <a:spLocks noGrp="1"/>
          </p:cNvSpPr>
          <p:nvPr>
            <p:ph type="sldNum" sz="quarter" idx="5"/>
          </p:nvPr>
        </p:nvSpPr>
        <p:spPr/>
        <p:txBody>
          <a:bodyPr/>
          <a:lstStyle/>
          <a:p>
            <a:fld id="{78706D8E-F031-488D-90E2-B228AF72B154}" type="slidenum">
              <a:rPr lang="en-US" smtClean="0"/>
              <a:pPr/>
              <a:t>17</a:t>
            </a:fld>
            <a:endParaRPr lang="en-US" dirty="0"/>
          </a:p>
        </p:txBody>
      </p:sp>
    </p:spTree>
    <p:extLst>
      <p:ext uri="{BB962C8B-B14F-4D97-AF65-F5344CB8AC3E}">
        <p14:creationId xmlns:p14="http://schemas.microsoft.com/office/powerpoint/2010/main" val="3183377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C2941B8-681F-4CF2-8331-D25D3219DB12}" type="datetime1">
              <a:rPr lang="en-IN" smtClean="0">
                <a:solidFill>
                  <a:prstClr val="black">
                    <a:tint val="75000"/>
                  </a:prstClr>
                </a:solidFill>
              </a:rPr>
              <a:t>10-10-2025</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396692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6A7EEF-67E8-4BB4-9646-1572F7019126}" type="datetime1">
              <a:rPr lang="en-IN" smtClean="0">
                <a:solidFill>
                  <a:prstClr val="black">
                    <a:tint val="75000"/>
                  </a:prstClr>
                </a:solidFill>
              </a:rPr>
              <a:t>10-10-2025</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850927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403017-843D-4A4A-8E4B-548316754338}" type="datetime1">
              <a:rPr lang="en-IN" smtClean="0">
                <a:solidFill>
                  <a:prstClr val="black">
                    <a:tint val="75000"/>
                  </a:prstClr>
                </a:solidFill>
              </a:rPr>
              <a:t>10-10-2025</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96191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C61C152-A325-4497-9433-D4BD6AFC7CAA}" type="datetime1">
              <a:rPr lang="en-IN" smtClean="0">
                <a:solidFill>
                  <a:prstClr val="black">
                    <a:tint val="75000"/>
                  </a:prstClr>
                </a:solidFill>
              </a:rPr>
              <a:t>10-10-2025</a:t>
            </a:fld>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462745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D750792-965A-4C62-8253-FD3FBAA0F191}" type="datetime1">
              <a:rPr lang="en-IN" smtClean="0">
                <a:solidFill>
                  <a:prstClr val="black">
                    <a:tint val="75000"/>
                  </a:prstClr>
                </a:solidFill>
              </a:rPr>
              <a:t>10-10-2025</a:t>
            </a:fld>
            <a:endParaRPr lang="en-IN"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IN"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56876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362A679-A70D-4D56-AA24-FEED21213B1B}" type="datetime1">
              <a:rPr lang="en-IN" smtClean="0">
                <a:solidFill>
                  <a:prstClr val="black">
                    <a:tint val="75000"/>
                  </a:prstClr>
                </a:solidFill>
              </a:rPr>
              <a:t>10-10-2025</a:t>
            </a:fld>
            <a:endParaRPr lang="en-IN"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IN"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795659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4398A6-D20B-4D39-8FC3-FA2732E2F2B2}" type="datetime1">
              <a:rPr lang="en-IN" smtClean="0">
                <a:solidFill>
                  <a:prstClr val="black">
                    <a:tint val="75000"/>
                  </a:prstClr>
                </a:solidFill>
              </a:rPr>
              <a:t>10-10-2025</a:t>
            </a:fld>
            <a:endParaRPr lang="en-IN"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IN"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782838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D64F00-46C3-4077-BC53-DB1BEA841036}" type="datetime1">
              <a:rPr lang="en-IN" smtClean="0">
                <a:solidFill>
                  <a:prstClr val="black">
                    <a:tint val="75000"/>
                  </a:prstClr>
                </a:solidFill>
              </a:rPr>
              <a:t>10-10-2025</a:t>
            </a:fld>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758261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FD9C0A-631A-40F9-96F1-41256EB84045}" type="datetime1">
              <a:rPr lang="en-IN" smtClean="0">
                <a:solidFill>
                  <a:prstClr val="black">
                    <a:tint val="75000"/>
                  </a:prstClr>
                </a:solidFill>
              </a:rPr>
              <a:t>10-10-2025</a:t>
            </a:fld>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IN"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896294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32117DD-915E-4F09-A1B7-76711162E738}" type="datetime1">
              <a:rPr lang="en-IN" smtClean="0">
                <a:solidFill>
                  <a:prstClr val="black">
                    <a:tint val="75000"/>
                  </a:prstClr>
                </a:solidFill>
              </a:rPr>
              <a:t>10-10-2025</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746515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4D650B-C3D3-4880-826C-E0664BDEDA24}" type="datetime1">
              <a:rPr lang="en-IN" smtClean="0">
                <a:solidFill>
                  <a:prstClr val="black">
                    <a:tint val="75000"/>
                  </a:prstClr>
                </a:solidFill>
              </a:rPr>
              <a:t>10-10-2025</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237627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B67579-0A28-4DF4-BBD8-3CF768E6F47A}" type="datetime1">
              <a:rPr lang="en-IN" smtClean="0">
                <a:solidFill>
                  <a:prstClr val="black">
                    <a:tint val="75000"/>
                  </a:prstClr>
                </a:solidFill>
              </a:rPr>
              <a:t>10-10-2025</a:t>
            </a:fld>
            <a:endParaRPr lang="en-IN"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B6B689-C4E4-455B-8D67-3A7798DC1D52}"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2891624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openmediavault.org/" TargetMode="External"/><Relationship Id="rId2" Type="http://schemas.openxmlformats.org/officeDocument/2006/relationships/image" Target="../media/image1.jpeg"/><Relationship Id="rId1" Type="http://schemas.openxmlformats.org/officeDocument/2006/relationships/slideLayout" Target="../slideLayouts/slideLayout4.xml"/><Relationship Id="rId5" Type="http://schemas.openxmlformats.org/officeDocument/2006/relationships/hyperlink" Target="https://docs.docker.com/" TargetMode="External"/><Relationship Id="rId4" Type="http://schemas.openxmlformats.org/officeDocument/2006/relationships/hyperlink" Target="https://www.raspberrypi.org/documentation/"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304170"/>
            <a:ext cx="12191999" cy="1201330"/>
          </a:xfrm>
          <a:solidFill>
            <a:schemeClr val="accent6">
              <a:lumMod val="20000"/>
              <a:lumOff val="80000"/>
            </a:schemeClr>
          </a:solidFill>
          <a:ln>
            <a:solidFill>
              <a:schemeClr val="accent6">
                <a:lumMod val="20000"/>
                <a:lumOff val="80000"/>
              </a:schemeClr>
            </a:solidFill>
          </a:ln>
        </p:spPr>
        <p:txBody>
          <a:bodyPr anchor="ctr">
            <a:normAutofit/>
          </a:bodyPr>
          <a:lstStyle/>
          <a:p>
            <a:r>
              <a:rPr lang="en-US" sz="3200" b="1" dirty="0">
                <a:latin typeface="Times New Roman" panose="02020603050405020304" pitchFamily="18" charset="0"/>
                <a:cs typeface="Times New Roman" panose="02020603050405020304" pitchFamily="18" charset="0"/>
              </a:rPr>
              <a:t> PI-NAS: A Raspberry Pi-Based Network Attached Storage</a:t>
            </a:r>
            <a:endParaRPr lang="en-IN" sz="3200" b="1" dirty="0">
              <a:latin typeface="Times New Roman" panose="02020603050405020304" pitchFamily="18" charset="0"/>
              <a:cs typeface="Times New Roman" panose="02020603050405020304" pitchFamily="18" charset="0"/>
            </a:endParaRPr>
          </a:p>
        </p:txBody>
      </p:sp>
      <p:pic>
        <p:nvPicPr>
          <p:cNvPr id="62" name="Picture 6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16939" cy="1406769"/>
          </a:xfrm>
          <a:prstGeom prst="rect">
            <a:avLst/>
          </a:prstGeom>
          <a:noFill/>
          <a:ln>
            <a:noFill/>
          </a:ln>
        </p:spPr>
      </p:pic>
      <p:sp>
        <p:nvSpPr>
          <p:cNvPr id="28" name="TextBox 27"/>
          <p:cNvSpPr txBox="1"/>
          <p:nvPr/>
        </p:nvSpPr>
        <p:spPr>
          <a:xfrm>
            <a:off x="1209823" y="0"/>
            <a:ext cx="9777046" cy="1323439"/>
          </a:xfrm>
          <a:prstGeom prst="rect">
            <a:avLst/>
          </a:prstGeom>
          <a:solidFill>
            <a:srgbClr val="002060"/>
          </a:solidFill>
          <a:ln>
            <a:noFill/>
          </a:ln>
        </p:spPr>
        <p:txBody>
          <a:bodyPr wrap="square" rtlCol="0" anchor="ctr">
            <a:spAutoFit/>
          </a:bodyPr>
          <a:lstStyle/>
          <a:p>
            <a:pPr algn="ctr"/>
            <a:r>
              <a:rPr lang="en-IN" sz="4000" b="1" dirty="0">
                <a:solidFill>
                  <a:schemeClr val="bg1"/>
                </a:solidFill>
                <a:latin typeface="Cambria" panose="02040503050406030204" pitchFamily="18" charset="0"/>
              </a:rPr>
              <a:t>Bangalore Institute of Technology</a:t>
            </a:r>
          </a:p>
          <a:p>
            <a:pPr algn="ctr"/>
            <a:r>
              <a:rPr lang="en-IN" sz="1600" dirty="0">
                <a:solidFill>
                  <a:schemeClr val="bg1"/>
                </a:solidFill>
                <a:latin typeface="Cambria" panose="02040503050406030204" pitchFamily="18" charset="0"/>
              </a:rPr>
              <a:t>K.R. Road, V V Puram, Bangalore-560004</a:t>
            </a:r>
          </a:p>
          <a:p>
            <a:pPr algn="ctr"/>
            <a:r>
              <a:rPr lang="en-IN" sz="2400" b="1" dirty="0">
                <a:solidFill>
                  <a:schemeClr val="bg1"/>
                </a:solidFill>
                <a:latin typeface="Cambria" panose="02040503050406030204" pitchFamily="18" charset="0"/>
              </a:rPr>
              <a:t>Department of  Electronics and Communication Engineering</a:t>
            </a:r>
            <a:endParaRPr lang="en-IN" sz="2800" b="1" i="1" dirty="0">
              <a:solidFill>
                <a:schemeClr val="bg1"/>
              </a:solidFill>
              <a:latin typeface="Cambria" panose="02040503050406030204" pitchFamily="18" charset="0"/>
            </a:endParaRPr>
          </a:p>
        </p:txBody>
      </p:sp>
      <p:pic>
        <p:nvPicPr>
          <p:cNvPr id="18436" name="Picture 4" descr="352397-vtu-logo - Kollege Times"/>
          <p:cNvPicPr>
            <a:picLocks noChangeAspect="1" noChangeArrowheads="1"/>
          </p:cNvPicPr>
          <p:nvPr/>
        </p:nvPicPr>
        <p:blipFill>
          <a:blip r:embed="rId3" cstate="print"/>
          <a:srcRect/>
          <a:stretch>
            <a:fillRect/>
          </a:stretch>
        </p:blipFill>
        <p:spPr bwMode="auto">
          <a:xfrm>
            <a:off x="10589115" y="1"/>
            <a:ext cx="1602885" cy="1406768"/>
          </a:xfrm>
          <a:prstGeom prst="rect">
            <a:avLst/>
          </a:prstGeom>
          <a:noFill/>
        </p:spPr>
      </p:pic>
      <p:sp>
        <p:nvSpPr>
          <p:cNvPr id="8" name="TextBox 7"/>
          <p:cNvSpPr txBox="1"/>
          <p:nvPr/>
        </p:nvSpPr>
        <p:spPr>
          <a:xfrm>
            <a:off x="2590372" y="2167802"/>
            <a:ext cx="6733309" cy="461665"/>
          </a:xfrm>
          <a:prstGeom prst="rect">
            <a:avLst/>
          </a:prstGeom>
          <a:solidFill>
            <a:schemeClr val="accent4">
              <a:lumMod val="20000"/>
              <a:lumOff val="80000"/>
            </a:schemeClr>
          </a:solidFill>
          <a:ln w="28575">
            <a:solidFill>
              <a:schemeClr val="tx1"/>
            </a:solidFill>
          </a:ln>
          <a:effectLst>
            <a:innerShdw blurRad="63500" dist="50800" dir="2700000">
              <a:prstClr val="black">
                <a:alpha val="50000"/>
              </a:prstClr>
            </a:innerShdw>
          </a:effectLst>
        </p:spPr>
        <p:txBody>
          <a:bodyPr wrap="square" rtlCol="0">
            <a:spAutoFit/>
          </a:bodyPr>
          <a:lstStyle/>
          <a:p>
            <a:pPr algn="ctr"/>
            <a:r>
              <a:rPr lang="en-US" sz="2400" b="1">
                <a:latin typeface="Times New Roman" panose="02020603050405020304" pitchFamily="18" charset="0"/>
                <a:cs typeface="Times New Roman" panose="02020603050405020304" pitchFamily="18" charset="0"/>
              </a:rPr>
              <a:t>MAJOR PROJECT </a:t>
            </a:r>
            <a:r>
              <a:rPr lang="en-US" sz="2400" b="1" dirty="0">
                <a:latin typeface="Times New Roman" panose="02020603050405020304" pitchFamily="18" charset="0"/>
                <a:cs typeface="Times New Roman" panose="02020603050405020304" pitchFamily="18" charset="0"/>
              </a:rPr>
              <a:t>PRESENTATION</a:t>
            </a:r>
          </a:p>
        </p:txBody>
      </p:sp>
      <p:sp>
        <p:nvSpPr>
          <p:cNvPr id="10" name="TextBox 9">
            <a:extLst>
              <a:ext uri="{FF2B5EF4-FFF2-40B4-BE49-F238E27FC236}">
                <a16:creationId xmlns:a16="http://schemas.microsoft.com/office/drawing/2014/main" id="{808E25C5-A206-AC46-B12C-E10B1599D933}"/>
              </a:ext>
            </a:extLst>
          </p:cNvPr>
          <p:cNvSpPr txBox="1"/>
          <p:nvPr/>
        </p:nvSpPr>
        <p:spPr>
          <a:xfrm>
            <a:off x="1035796" y="5139034"/>
            <a:ext cx="3571044" cy="1200329"/>
          </a:xfrm>
          <a:prstGeom prst="rect">
            <a:avLst/>
          </a:prstGeom>
          <a:solidFill>
            <a:srgbClr val="CCECFF">
              <a:alpha val="49804"/>
            </a:srgbClr>
          </a:solidFill>
          <a:ln>
            <a:solidFill>
              <a:srgbClr val="FFC000"/>
            </a:solidFill>
          </a:ln>
          <a:effectLst>
            <a:outerShdw blurRad="76200" dir="18900000" sy="23000" kx="-1200000" algn="bl" rotWithShape="0">
              <a:prstClr val="black">
                <a:alpha val="20000"/>
              </a:prstClr>
            </a:outerShdw>
          </a:effectLst>
        </p:spPr>
        <p:txBody>
          <a:bodyPr wrap="square">
            <a:spAutoFit/>
          </a:bodyPr>
          <a:lstStyle/>
          <a:p>
            <a:pPr algn="just"/>
            <a:r>
              <a:rPr lang="en-US" dirty="0">
                <a:solidFill>
                  <a:srgbClr val="000000"/>
                </a:solidFill>
                <a:latin typeface="Times New Roman" panose="02020603050405020304" pitchFamily="18" charset="0"/>
                <a:cs typeface="Times New Roman" panose="02020603050405020304" pitchFamily="18" charset="0"/>
              </a:rPr>
              <a:t>Guide Name: Likhitha K</a:t>
            </a:r>
          </a:p>
          <a:p>
            <a:pPr algn="just"/>
            <a:r>
              <a:rPr lang="en-US" dirty="0">
                <a:solidFill>
                  <a:srgbClr val="000000"/>
                </a:solidFill>
                <a:latin typeface="Times New Roman" panose="02020603050405020304" pitchFamily="18" charset="0"/>
                <a:cs typeface="Times New Roman" panose="02020603050405020304" pitchFamily="18" charset="0"/>
              </a:rPr>
              <a:t>Designation: </a:t>
            </a:r>
            <a:r>
              <a:rPr lang="en-IN" dirty="0">
                <a:solidFill>
                  <a:srgbClr val="000000"/>
                </a:solidFill>
                <a:latin typeface="Times New Roman" panose="02020603050405020304" pitchFamily="18" charset="0"/>
                <a:cs typeface="Times New Roman" panose="02020603050405020304" pitchFamily="18" charset="0"/>
              </a:rPr>
              <a:t>Assistant Professor </a:t>
            </a:r>
            <a:endParaRPr lang="en-US" dirty="0">
              <a:effectLst/>
              <a:latin typeface="Times New Roman" panose="02020603050405020304" pitchFamily="18" charset="0"/>
              <a:cs typeface="Times New Roman" panose="02020603050405020304" pitchFamily="18" charset="0"/>
            </a:endParaRPr>
          </a:p>
          <a:p>
            <a:pPr algn="just"/>
            <a:r>
              <a:rPr lang="en-US" sz="1800" b="0" i="0" u="none" strike="noStrike" dirty="0">
                <a:solidFill>
                  <a:srgbClr val="000000"/>
                </a:solidFill>
                <a:effectLst/>
                <a:latin typeface="Times New Roman" panose="02020603050405020304" pitchFamily="18" charset="0"/>
                <a:cs typeface="Times New Roman" panose="02020603050405020304" pitchFamily="18" charset="0"/>
              </a:rPr>
              <a:t>Dept. of ECE</a:t>
            </a:r>
            <a:endParaRPr lang="en-US" dirty="0">
              <a:effectLst/>
              <a:latin typeface="Times New Roman" panose="02020603050405020304" pitchFamily="18" charset="0"/>
              <a:cs typeface="Times New Roman" panose="02020603050405020304" pitchFamily="18" charset="0"/>
            </a:endParaRPr>
          </a:p>
          <a:p>
            <a:pPr algn="just" rtl="0"/>
            <a:r>
              <a:rPr lang="en-US" dirty="0">
                <a:solidFill>
                  <a:srgbClr val="000000"/>
                </a:solidFill>
                <a:latin typeface="Times New Roman" panose="02020603050405020304" pitchFamily="18" charset="0"/>
                <a:cs typeface="Times New Roman" panose="02020603050405020304" pitchFamily="18" charset="0"/>
              </a:rPr>
              <a:t>BIT.</a:t>
            </a:r>
            <a:endParaRPr lang="en-US" dirty="0">
              <a:effectLst/>
              <a:latin typeface="Times New Roman" panose="02020603050405020304" pitchFamily="18" charset="0"/>
              <a:cs typeface="Times New Roman" panose="02020603050405020304" pitchFamily="18" charset="0"/>
            </a:endParaRPr>
          </a:p>
        </p:txBody>
      </p:sp>
      <p:sp>
        <p:nvSpPr>
          <p:cNvPr id="11" name="Rectangle 10"/>
          <p:cNvSpPr/>
          <p:nvPr/>
        </p:nvSpPr>
        <p:spPr>
          <a:xfrm>
            <a:off x="1035795" y="4769702"/>
            <a:ext cx="3571045" cy="369332"/>
          </a:xfrm>
          <a:prstGeom prst="rect">
            <a:avLst/>
          </a:prstGeom>
          <a:solidFill>
            <a:schemeClr val="accent6">
              <a:lumMod val="60000"/>
              <a:lumOff val="40000"/>
            </a:schemeClr>
          </a:solidFill>
          <a:ln>
            <a:solidFill>
              <a:schemeClr val="tx2">
                <a:lumMod val="40000"/>
                <a:lumOff val="60000"/>
              </a:schemeClr>
            </a:solidFill>
          </a:ln>
          <a:effectLst>
            <a:innerShdw blurRad="63500" dist="50800" dir="18900000">
              <a:prstClr val="black">
                <a:alpha val="50000"/>
              </a:prstClr>
            </a:innerShdw>
          </a:effectLst>
        </p:spPr>
        <p:txBody>
          <a:bodyPr wrap="square">
            <a:spAutoFit/>
          </a:bodyPr>
          <a:lstStyle/>
          <a:p>
            <a:r>
              <a:rPr lang="en-US" b="1" dirty="0">
                <a:solidFill>
                  <a:srgbClr val="000000"/>
                </a:solidFill>
                <a:latin typeface="Times New Roman" panose="02020603050405020304" pitchFamily="18" charset="0"/>
                <a:cs typeface="Times New Roman" panose="02020603050405020304" pitchFamily="18" charset="0"/>
              </a:rPr>
              <a:t>Under  the guidance of:</a:t>
            </a:r>
            <a:endParaRPr lang="en-US"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08E25C5-A206-AC46-B12C-E10B1599D933}"/>
              </a:ext>
            </a:extLst>
          </p:cNvPr>
          <p:cNvSpPr txBox="1"/>
          <p:nvPr/>
        </p:nvSpPr>
        <p:spPr>
          <a:xfrm>
            <a:off x="7082559" y="5150757"/>
            <a:ext cx="3571044" cy="1200329"/>
          </a:xfrm>
          <a:prstGeom prst="rect">
            <a:avLst/>
          </a:prstGeom>
          <a:solidFill>
            <a:srgbClr val="CCECFF">
              <a:alpha val="49804"/>
            </a:srgbClr>
          </a:solidFill>
          <a:ln>
            <a:solidFill>
              <a:srgbClr val="FFC000"/>
            </a:solidFill>
          </a:ln>
          <a:effectLst>
            <a:outerShdw blurRad="76200" dir="18900000" sy="23000" kx="-1200000" algn="bl" rotWithShape="0">
              <a:prstClr val="black">
                <a:alpha val="20000"/>
              </a:prstClr>
            </a:outerShdw>
          </a:effectLst>
        </p:spPr>
        <p:txBody>
          <a:bodyPr wrap="square">
            <a:spAutoFit/>
          </a:bodyPr>
          <a:lstStyle/>
          <a:p>
            <a:pPr algn="just"/>
            <a:r>
              <a:rPr lang="en-US" dirty="0">
                <a:solidFill>
                  <a:srgbClr val="000000"/>
                </a:solidFill>
                <a:latin typeface="Times New Roman" panose="02020603050405020304" pitchFamily="18" charset="0"/>
                <a:cs typeface="Times New Roman" panose="02020603050405020304" pitchFamily="18" charset="0"/>
              </a:rPr>
              <a:t>Abhishek Agarwal        1BI22EC003</a:t>
            </a:r>
          </a:p>
          <a:p>
            <a:pPr algn="just"/>
            <a:r>
              <a:rPr lang="en-US" dirty="0">
                <a:solidFill>
                  <a:srgbClr val="000000"/>
                </a:solidFill>
                <a:latin typeface="Times New Roman" panose="02020603050405020304" pitchFamily="18" charset="0"/>
                <a:cs typeface="Times New Roman" panose="02020603050405020304" pitchFamily="18" charset="0"/>
              </a:rPr>
              <a:t>Aditya S Gowda           1BI22EC007</a:t>
            </a:r>
          </a:p>
          <a:p>
            <a:pPr algn="just"/>
            <a:r>
              <a:rPr lang="en-US" dirty="0">
                <a:solidFill>
                  <a:srgbClr val="000000"/>
                </a:solidFill>
                <a:latin typeface="Times New Roman" panose="02020603050405020304" pitchFamily="18" charset="0"/>
                <a:cs typeface="Times New Roman" panose="02020603050405020304" pitchFamily="18" charset="0"/>
              </a:rPr>
              <a:t>Aditya Umesh              1BI22EC008</a:t>
            </a:r>
          </a:p>
          <a:p>
            <a:pPr algn="just"/>
            <a:r>
              <a:rPr lang="en-US" dirty="0">
                <a:solidFill>
                  <a:srgbClr val="000000"/>
                </a:solidFill>
                <a:latin typeface="Times New Roman" panose="02020603050405020304" pitchFamily="18" charset="0"/>
                <a:cs typeface="Times New Roman" panose="02020603050405020304" pitchFamily="18" charset="0"/>
              </a:rPr>
              <a:t>Amruth Shirin KH        1BI22EC012</a:t>
            </a:r>
          </a:p>
        </p:txBody>
      </p:sp>
      <p:sp>
        <p:nvSpPr>
          <p:cNvPr id="13" name="Rectangle 12"/>
          <p:cNvSpPr/>
          <p:nvPr/>
        </p:nvSpPr>
        <p:spPr>
          <a:xfrm>
            <a:off x="7082558" y="4781425"/>
            <a:ext cx="3571045" cy="369332"/>
          </a:xfrm>
          <a:prstGeom prst="rect">
            <a:avLst/>
          </a:prstGeom>
          <a:solidFill>
            <a:schemeClr val="accent6">
              <a:lumMod val="60000"/>
              <a:lumOff val="40000"/>
            </a:schemeClr>
          </a:solidFill>
          <a:ln>
            <a:solidFill>
              <a:schemeClr val="tx2">
                <a:lumMod val="40000"/>
                <a:lumOff val="60000"/>
              </a:schemeClr>
            </a:solidFill>
          </a:ln>
          <a:effectLst>
            <a:innerShdw blurRad="63500" dist="50800" dir="18900000">
              <a:prstClr val="black">
                <a:alpha val="50000"/>
              </a:prstClr>
            </a:innerShdw>
          </a:effectLst>
        </p:spPr>
        <p:txBody>
          <a:bodyPr wrap="square">
            <a:spAutoFit/>
          </a:bodyPr>
          <a:lstStyle/>
          <a:p>
            <a:r>
              <a:rPr lang="en-US" b="1" dirty="0">
                <a:solidFill>
                  <a:srgbClr val="000000"/>
                </a:solidFill>
                <a:latin typeface="Times New Roman" panose="02020603050405020304" pitchFamily="18" charset="0"/>
                <a:cs typeface="Times New Roman" panose="02020603050405020304" pitchFamily="18" charset="0"/>
              </a:rPr>
              <a:t>Presented by</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C3B1C60F-DAF4-00DD-2CBD-DF9CE8DEDCF6}"/>
              </a:ext>
            </a:extLst>
          </p:cNvPr>
          <p:cNvSpPr>
            <a:spLocks noGrp="1"/>
          </p:cNvSpPr>
          <p:nvPr>
            <p:ph type="sldNum" sz="quarter" idx="12"/>
          </p:nvPr>
        </p:nvSpPr>
        <p:spPr/>
        <p:txBody>
          <a:bodyPr/>
          <a:lstStyle/>
          <a:p>
            <a:fld id="{CCB6B689-C4E4-455B-8D67-3A7798DC1D52}" type="slidenum">
              <a:rPr lang="en-IN" smtClean="0">
                <a:solidFill>
                  <a:prstClr val="black">
                    <a:tint val="75000"/>
                  </a:prstClr>
                </a:solidFill>
              </a:rPr>
              <a:pPr/>
              <a:t>1</a:t>
            </a:fld>
            <a:endParaRPr lang="en-IN" dirty="0">
              <a:solidFill>
                <a:prstClr val="black">
                  <a:tint val="75000"/>
                </a:prstClr>
              </a:solidFill>
            </a:endParaRPr>
          </a:p>
        </p:txBody>
      </p:sp>
    </p:spTree>
    <p:extLst>
      <p:ext uri="{BB962C8B-B14F-4D97-AF65-F5344CB8AC3E}">
        <p14:creationId xmlns:p14="http://schemas.microsoft.com/office/powerpoint/2010/main" val="3989347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p:cNvSpPr txBox="1">
            <a:spLocks/>
          </p:cNvSpPr>
          <p:nvPr/>
        </p:nvSpPr>
        <p:spPr>
          <a:xfrm>
            <a:off x="0" y="-1"/>
            <a:ext cx="12191999" cy="787791"/>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latin typeface="Cambria" panose="02040503050406030204" pitchFamily="18" charset="0"/>
              </a:rPr>
              <a:t>  </a:t>
            </a:r>
            <a:r>
              <a:rPr lang="en-IN" sz="2400" b="1" dirty="0">
                <a:solidFill>
                  <a:schemeClr val="bg1"/>
                </a:solidFill>
                <a:latin typeface="Cambria" panose="02040503050406030204" pitchFamily="18" charset="0"/>
              </a:rPr>
              <a:t>INSTITUTE VISION AND MISSION</a:t>
            </a:r>
            <a:endParaRPr lang="en-IN" sz="2000" b="1" dirty="0">
              <a:solidFill>
                <a:schemeClr val="bg1"/>
              </a:solidFill>
              <a:latin typeface="Cambria" panose="02040503050406030204" pitchFamily="18" charset="0"/>
            </a:endParaRPr>
          </a:p>
        </p:txBody>
      </p:sp>
      <p:sp>
        <p:nvSpPr>
          <p:cNvPr id="11" name="Rectangle 10"/>
          <p:cNvSpPr/>
          <p:nvPr/>
        </p:nvSpPr>
        <p:spPr>
          <a:xfrm>
            <a:off x="383458" y="999585"/>
            <a:ext cx="11267768" cy="1435762"/>
          </a:xfrm>
          <a:prstGeom prst="rect">
            <a:avLst/>
          </a:prstGeom>
          <a:solidFill>
            <a:schemeClr val="accent5">
              <a:lumMod val="20000"/>
              <a:lumOff val="8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fontAlgn="b">
              <a:lnSpc>
                <a:spcPct val="150000"/>
              </a:lnSpc>
            </a:pPr>
            <a:r>
              <a:rPr lang="en-US" b="1" u="sng" dirty="0">
                <a:solidFill>
                  <a:schemeClr val="accent1">
                    <a:lumMod val="75000"/>
                  </a:schemeClr>
                </a:solidFill>
                <a:latin typeface="Times New Roman" pitchFamily="18" charset="0"/>
                <a:cs typeface="Times New Roman" pitchFamily="18" charset="0"/>
              </a:rPr>
              <a:t>Vision:</a:t>
            </a:r>
            <a:r>
              <a:rPr lang="en-US" b="1" dirty="0">
                <a:solidFill>
                  <a:schemeClr val="accent1">
                    <a:lumMod val="75000"/>
                  </a:schemeClr>
                </a:solidFill>
                <a:latin typeface="Times New Roman" pitchFamily="18" charset="0"/>
                <a:cs typeface="Times New Roman" pitchFamily="18" charset="0"/>
              </a:rPr>
              <a:t> </a:t>
            </a:r>
            <a:r>
              <a:rPr lang="en-US" dirty="0">
                <a:solidFill>
                  <a:schemeClr val="accent1">
                    <a:lumMod val="75000"/>
                  </a:schemeClr>
                </a:solidFill>
                <a:latin typeface="Times New Roman" pitchFamily="18" charset="0"/>
                <a:cs typeface="Times New Roman" pitchFamily="18" charset="0"/>
              </a:rPr>
              <a:t>Establish and develop the Institute as the Centre of higher learning, ever abreast with an expanding horizon of knowledge in the ﬁeld of Engineering and Technology with entrepreneurial thinking, leadership excellence for life-long success and solve societal problems.</a:t>
            </a:r>
          </a:p>
        </p:txBody>
      </p:sp>
      <p:sp>
        <p:nvSpPr>
          <p:cNvPr id="12" name="Rectangle 11"/>
          <p:cNvSpPr/>
          <p:nvPr/>
        </p:nvSpPr>
        <p:spPr>
          <a:xfrm>
            <a:off x="383458" y="2696146"/>
            <a:ext cx="11267768" cy="3618272"/>
          </a:xfrm>
          <a:prstGeom prst="rect">
            <a:avLst/>
          </a:prstGeom>
          <a:solidFill>
            <a:schemeClr val="accent5">
              <a:lumMod val="20000"/>
              <a:lumOff val="8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eaLnBrk="0" fontAlgn="base" hangingPunct="0">
              <a:spcBef>
                <a:spcPct val="0"/>
              </a:spcBef>
              <a:spcAft>
                <a:spcPct val="0"/>
              </a:spcAft>
            </a:pPr>
            <a:r>
              <a:rPr lang="en-US" b="1" u="sng" dirty="0">
                <a:solidFill>
                  <a:schemeClr val="accent1">
                    <a:lumMod val="75000"/>
                  </a:schemeClr>
                </a:solidFill>
                <a:latin typeface="Times New Roman" pitchFamily="18" charset="0"/>
                <a:cs typeface="Times New Roman" pitchFamily="18" charset="0"/>
              </a:rPr>
              <a:t>Mission: </a:t>
            </a:r>
            <a:endParaRPr lang="en-US" altLang="en-US" dirty="0">
              <a:solidFill>
                <a:schemeClr val="accent1">
                  <a:lumMod val="75000"/>
                </a:schemeClr>
              </a:solidFill>
              <a:latin typeface="Arial" panose="020B0604020202020204" pitchFamily="34" charset="0"/>
            </a:endParaRP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Provide high quality education in the Engineering disciplines from the undergraduate through doctoral levels with creative academic and professional programs.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Develop the Institute as a leader in Science, Engineering, Technology, Management and Research and apply knowledge for the beneﬁt of society.</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Establish mutual beneﬁcial partnerships with Industry, Alumni, Local, State and Central Governments by Public Service Assistance and Collaborative Research.</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Inculcate personality development through sports, cultural and extracurricular activities and engage in social, economic and professional challenges.</a:t>
            </a:r>
            <a:endParaRPr lang="en-US" b="1" u="sng" dirty="0">
              <a:solidFill>
                <a:schemeClr val="accent1">
                  <a:lumMod val="75000"/>
                </a:schemeClr>
              </a:solidFill>
              <a:latin typeface="Times New Roman" panose="02020603050405020304" pitchFamily="18" charset="0"/>
              <a:cs typeface="Times New Roman" pitchFamily="18" charset="0"/>
            </a:endParaRPr>
          </a:p>
        </p:txBody>
      </p:sp>
      <p:sp>
        <p:nvSpPr>
          <p:cNvPr id="3" name="Slide Number Placeholder 2">
            <a:extLst>
              <a:ext uri="{FF2B5EF4-FFF2-40B4-BE49-F238E27FC236}">
                <a16:creationId xmlns:a16="http://schemas.microsoft.com/office/drawing/2014/main" id="{B74F770D-01D0-1141-7E9B-25638DDEBA6C}"/>
              </a:ext>
            </a:extLst>
          </p:cNvPr>
          <p:cNvSpPr>
            <a:spLocks noGrp="1"/>
          </p:cNvSpPr>
          <p:nvPr>
            <p:ph type="sldNum" sz="quarter" idx="12"/>
          </p:nvPr>
        </p:nvSpPr>
        <p:spPr>
          <a:xfrm>
            <a:off x="8728730" y="6311736"/>
            <a:ext cx="2743200" cy="365125"/>
          </a:xfrm>
        </p:spPr>
        <p:txBody>
          <a:bodyPr/>
          <a:lstStyle/>
          <a:p>
            <a:fld id="{CCB6B689-C4E4-455B-8D67-3A7798DC1D52}" type="slidenum">
              <a:rPr lang="en-IN" smtClean="0">
                <a:solidFill>
                  <a:prstClr val="black">
                    <a:tint val="75000"/>
                  </a:prstClr>
                </a:solidFill>
              </a:rPr>
              <a:pPr/>
              <a:t>2</a:t>
            </a:fld>
            <a:endParaRPr lang="en-IN" dirty="0">
              <a:solidFill>
                <a:prstClr val="black">
                  <a:tint val="75000"/>
                </a:prstClr>
              </a:solidFill>
            </a:endParaRPr>
          </a:p>
        </p:txBody>
      </p:sp>
    </p:spTree>
    <p:extLst>
      <p:ext uri="{BB962C8B-B14F-4D97-AF65-F5344CB8AC3E}">
        <p14:creationId xmlns:p14="http://schemas.microsoft.com/office/powerpoint/2010/main" val="1019021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p:cNvSpPr txBox="1">
            <a:spLocks/>
          </p:cNvSpPr>
          <p:nvPr/>
        </p:nvSpPr>
        <p:spPr>
          <a:xfrm>
            <a:off x="0" y="-1"/>
            <a:ext cx="12191999" cy="787791"/>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solidFill>
                  <a:schemeClr val="bg1"/>
                </a:solidFill>
                <a:latin typeface="Cambria" panose="02040503050406030204" pitchFamily="18" charset="0"/>
              </a:rPr>
              <a:t>  </a:t>
            </a:r>
            <a:r>
              <a:rPr lang="en-IN" sz="2400" b="1" dirty="0">
                <a:solidFill>
                  <a:schemeClr val="bg1"/>
                </a:solidFill>
                <a:latin typeface="Times New Roman" panose="02020603050405020304" pitchFamily="18" charset="0"/>
                <a:cs typeface="Times New Roman" panose="02020603050405020304" pitchFamily="18" charset="0"/>
              </a:rPr>
              <a:t>DEPARTMENT VISION , MISSION, PEOs, PSOs</a:t>
            </a: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389857" y="1535544"/>
            <a:ext cx="11287433" cy="1073683"/>
          </a:xfrm>
          <a:prstGeom prst="rect">
            <a:avLst/>
          </a:prstGeom>
          <a:solidFill>
            <a:schemeClr val="accent5">
              <a:lumMod val="20000"/>
              <a:lumOff val="8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fontAlgn="b">
              <a:lnSpc>
                <a:spcPct val="150000"/>
              </a:lnSpc>
            </a:pPr>
            <a:r>
              <a:rPr lang="en-US" b="1" u="sng" dirty="0">
                <a:solidFill>
                  <a:schemeClr val="accent1">
                    <a:lumMod val="75000"/>
                  </a:schemeClr>
                </a:solidFill>
                <a:latin typeface="Times New Roman" pitchFamily="18" charset="0"/>
                <a:cs typeface="Times New Roman" pitchFamily="18" charset="0"/>
              </a:rPr>
              <a:t>Vision:</a:t>
            </a:r>
            <a:r>
              <a:rPr lang="en-US" dirty="0">
                <a:solidFill>
                  <a:schemeClr val="accent1">
                    <a:lumMod val="75000"/>
                  </a:schemeClr>
                </a:solidFill>
                <a:latin typeface="Times New Roman" pitchFamily="18" charset="0"/>
                <a:cs typeface="Times New Roman" pitchFamily="18" charset="0"/>
              </a:rPr>
              <a:t> Imparting Quality Education to achieve Academic Excellence in Electronics and Communication Engineering for Global Competent Engineers.</a:t>
            </a:r>
          </a:p>
        </p:txBody>
      </p:sp>
      <p:sp>
        <p:nvSpPr>
          <p:cNvPr id="12" name="Rectangle 11"/>
          <p:cNvSpPr/>
          <p:nvPr/>
        </p:nvSpPr>
        <p:spPr>
          <a:xfrm>
            <a:off x="389858" y="3356981"/>
            <a:ext cx="11287433" cy="1559149"/>
          </a:xfrm>
          <a:prstGeom prst="rect">
            <a:avLst/>
          </a:prstGeom>
          <a:solidFill>
            <a:schemeClr val="accent5">
              <a:lumMod val="20000"/>
              <a:lumOff val="8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eaLnBrk="0" fontAlgn="base" hangingPunct="0">
              <a:spcBef>
                <a:spcPct val="0"/>
              </a:spcBef>
              <a:spcAft>
                <a:spcPct val="0"/>
              </a:spcAft>
            </a:pPr>
            <a:r>
              <a:rPr lang="en-US" b="1" u="sng" dirty="0">
                <a:solidFill>
                  <a:srgbClr val="0070C0"/>
                </a:solidFill>
                <a:latin typeface="Times New Roman" pitchFamily="18" charset="0"/>
                <a:cs typeface="Times New Roman" pitchFamily="18" charset="0"/>
              </a:rPr>
              <a:t>M</a:t>
            </a:r>
            <a:r>
              <a:rPr lang="en-US" b="1" u="sng" dirty="0">
                <a:solidFill>
                  <a:schemeClr val="accent1">
                    <a:lumMod val="75000"/>
                  </a:schemeClr>
                </a:solidFill>
                <a:latin typeface="Times New Roman" pitchFamily="18" charset="0"/>
                <a:cs typeface="Times New Roman" pitchFamily="18" charset="0"/>
              </a:rPr>
              <a:t>ission: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Create state of art infrastructure for quality education.</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Nurture innovative concepts and problem solving skills.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Delivering Professional Engineers to meet the societal needs. </a:t>
            </a:r>
          </a:p>
          <a:p>
            <a:pPr fontAlgn="b"/>
            <a:endParaRPr lang="en-US" b="1" u="sng" dirty="0">
              <a:solidFill>
                <a:srgbClr val="0070C0"/>
              </a:solidFill>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F64BEF44-B610-1D49-63D8-1D8B40741311}"/>
              </a:ext>
            </a:extLst>
          </p:cNvPr>
          <p:cNvSpPr>
            <a:spLocks noGrp="1"/>
          </p:cNvSpPr>
          <p:nvPr>
            <p:ph type="sldNum" sz="quarter" idx="12"/>
          </p:nvPr>
        </p:nvSpPr>
        <p:spPr>
          <a:xfrm>
            <a:off x="8629180" y="6228087"/>
            <a:ext cx="2743200" cy="365125"/>
          </a:xfrm>
        </p:spPr>
        <p:txBody>
          <a:bodyPr/>
          <a:lstStyle/>
          <a:p>
            <a:fld id="{CCB6B689-C4E4-455B-8D67-3A7798DC1D52}" type="slidenum">
              <a:rPr lang="en-IN" smtClean="0">
                <a:solidFill>
                  <a:prstClr val="black">
                    <a:tint val="75000"/>
                  </a:prstClr>
                </a:solidFill>
              </a:rPr>
              <a:pPr/>
              <a:t>3</a:t>
            </a:fld>
            <a:endParaRPr lang="en-IN" dirty="0">
              <a:solidFill>
                <a:prstClr val="black">
                  <a:tint val="75000"/>
                </a:prstClr>
              </a:solidFill>
            </a:endParaRPr>
          </a:p>
        </p:txBody>
      </p:sp>
    </p:spTree>
    <p:extLst>
      <p:ext uri="{BB962C8B-B14F-4D97-AF65-F5344CB8AC3E}">
        <p14:creationId xmlns:p14="http://schemas.microsoft.com/office/powerpoint/2010/main" val="1019021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9A6D5-7785-98AC-31DC-44B774ED52C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783DF70-A305-2C55-6967-D927F958851C}"/>
              </a:ext>
            </a:extLst>
          </p:cNvPr>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9265FDF4-EF2A-FD90-2C11-8BD3F2474A72}"/>
              </a:ext>
            </a:extLst>
          </p:cNvPr>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66CE5FEE-72BB-4F16-5D2E-98FBE60FD9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a:extLst>
              <a:ext uri="{FF2B5EF4-FFF2-40B4-BE49-F238E27FC236}">
                <a16:creationId xmlns:a16="http://schemas.microsoft.com/office/drawing/2014/main" id="{F3A05292-5126-DDEE-82C6-83B66AE61894}"/>
              </a:ext>
            </a:extLst>
          </p:cNvPr>
          <p:cNvSpPr txBox="1">
            <a:spLocks/>
          </p:cNvSpPr>
          <p:nvPr/>
        </p:nvSpPr>
        <p:spPr>
          <a:xfrm>
            <a:off x="0" y="-1"/>
            <a:ext cx="12191999" cy="787791"/>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solidFill>
                  <a:schemeClr val="bg1"/>
                </a:solidFill>
                <a:latin typeface="Cambria" panose="02040503050406030204" pitchFamily="18" charset="0"/>
              </a:rPr>
              <a:t>  </a:t>
            </a:r>
            <a:r>
              <a:rPr lang="en-IN" sz="2400" b="1" dirty="0">
                <a:solidFill>
                  <a:schemeClr val="bg1"/>
                </a:solidFill>
                <a:latin typeface="Times New Roman" panose="02020603050405020304" pitchFamily="18" charset="0"/>
                <a:cs typeface="Times New Roman" panose="02020603050405020304" pitchFamily="18" charset="0"/>
              </a:rPr>
              <a:t>DEPARTMENT VISION , MISSION, PEOs, PSOs</a:t>
            </a: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07803E58-3F56-ED60-B4E7-21BA3B9E7D10}"/>
              </a:ext>
            </a:extLst>
          </p:cNvPr>
          <p:cNvSpPr/>
          <p:nvPr/>
        </p:nvSpPr>
        <p:spPr>
          <a:xfrm>
            <a:off x="471947" y="910245"/>
            <a:ext cx="11198943" cy="3190561"/>
          </a:xfrm>
          <a:prstGeom prst="rect">
            <a:avLst/>
          </a:prstGeom>
          <a:solidFill>
            <a:schemeClr val="accent5">
              <a:lumMod val="20000"/>
              <a:lumOff val="8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
            <a:r>
              <a:rPr lang="en-US" b="1" u="sng" dirty="0">
                <a:solidFill>
                  <a:schemeClr val="accent1">
                    <a:lumMod val="75000"/>
                  </a:schemeClr>
                </a:solidFill>
                <a:latin typeface="Times New Roman" pitchFamily="18" charset="0"/>
                <a:cs typeface="Times New Roman" pitchFamily="18" charset="0"/>
              </a:rPr>
              <a:t>PEOs: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Prepare graduates to be Professionals, Practicing Engineers and entrepreneurs the field of Electronics and Communication Engineering.</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To acquire sufficient knowledge base for innovative techniques innovative techniques in design and development of systems.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Capable of competing globally in multidisciplinary field.</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Achieve personal and professional success with awareness and commitment to ethical and social responsibilities as an individual as well as a team.</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Graduates will maintain and improve technical competence through continuous learning process. </a:t>
            </a:r>
          </a:p>
          <a:p>
            <a:pPr fontAlgn="b"/>
            <a:endParaRPr lang="en-US" b="1" u="sng" dirty="0">
              <a:solidFill>
                <a:srgbClr val="0070C0"/>
              </a:solidFill>
              <a:latin typeface="Times New Roman" pitchFamily="18" charset="0"/>
              <a:cs typeface="Times New Roman" pitchFamily="18" charset="0"/>
            </a:endParaRPr>
          </a:p>
        </p:txBody>
      </p:sp>
      <p:sp>
        <p:nvSpPr>
          <p:cNvPr id="14" name="Rectangle 13">
            <a:extLst>
              <a:ext uri="{FF2B5EF4-FFF2-40B4-BE49-F238E27FC236}">
                <a16:creationId xmlns:a16="http://schemas.microsoft.com/office/drawing/2014/main" id="{52388EFD-D16B-59B0-BC2F-E68873A7839D}"/>
              </a:ext>
            </a:extLst>
          </p:cNvPr>
          <p:cNvSpPr/>
          <p:nvPr/>
        </p:nvSpPr>
        <p:spPr>
          <a:xfrm>
            <a:off x="471947" y="4170206"/>
            <a:ext cx="11198943" cy="2335611"/>
          </a:xfrm>
          <a:prstGeom prst="rect">
            <a:avLst/>
          </a:prstGeom>
          <a:solidFill>
            <a:schemeClr val="accent5">
              <a:lumMod val="20000"/>
              <a:lumOff val="80000"/>
            </a:schemeClr>
          </a:solidFill>
          <a:ln w="3175">
            <a:solidFill>
              <a:schemeClr val="tx2">
                <a:lumMod val="60000"/>
                <a:lumOff val="40000"/>
              </a:schemeClr>
            </a:solid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
            <a:r>
              <a:rPr lang="en-US" b="1" u="sng" dirty="0">
                <a:solidFill>
                  <a:schemeClr val="accent1">
                    <a:lumMod val="75000"/>
                  </a:schemeClr>
                </a:solidFill>
                <a:latin typeface="Times New Roman" pitchFamily="18" charset="0"/>
                <a:cs typeface="Times New Roman" pitchFamily="18" charset="0"/>
              </a:rPr>
              <a:t>PSOs: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PSO1: The graduates will be able to apply the Principles of Electronics and Communication Engineering in core areas.</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PSO2:An ability to use the latest hardware and software tools in Electronics and Communication Engineering</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PSO3: Preparing Graduates to satisfy industrial needs and pursue higher studies with social awareness and universal moral values.</a:t>
            </a:r>
            <a:endParaRPr lang="en-US" u="sng" dirty="0">
              <a:solidFill>
                <a:schemeClr val="accent1">
                  <a:lumMod val="75000"/>
                </a:schemeClr>
              </a:solidFill>
              <a:latin typeface="Times New Roman" panose="02020603050405020304" pitchFamily="18" charset="0"/>
              <a:cs typeface="Times New Roman" pitchFamily="18" charset="0"/>
            </a:endParaRPr>
          </a:p>
        </p:txBody>
      </p:sp>
      <p:sp>
        <p:nvSpPr>
          <p:cNvPr id="4" name="Slide Number Placeholder 3">
            <a:extLst>
              <a:ext uri="{FF2B5EF4-FFF2-40B4-BE49-F238E27FC236}">
                <a16:creationId xmlns:a16="http://schemas.microsoft.com/office/drawing/2014/main" id="{95221092-6625-162A-E2AB-2B1CD83FDEF5}"/>
              </a:ext>
            </a:extLst>
          </p:cNvPr>
          <p:cNvSpPr>
            <a:spLocks noGrp="1"/>
          </p:cNvSpPr>
          <p:nvPr>
            <p:ph type="sldNum" sz="quarter" idx="12"/>
          </p:nvPr>
        </p:nvSpPr>
        <p:spPr>
          <a:xfrm>
            <a:off x="8728730" y="6254785"/>
            <a:ext cx="2743200" cy="365125"/>
          </a:xfrm>
        </p:spPr>
        <p:txBody>
          <a:bodyPr/>
          <a:lstStyle/>
          <a:p>
            <a:fld id="{CCB6B689-C4E4-455B-8D67-3A7798DC1D52}" type="slidenum">
              <a:rPr lang="en-IN" smtClean="0">
                <a:solidFill>
                  <a:prstClr val="black">
                    <a:tint val="75000"/>
                  </a:prstClr>
                </a:solidFill>
              </a:rPr>
              <a:pPr/>
              <a:t>4</a:t>
            </a:fld>
            <a:endParaRPr lang="en-IN" dirty="0">
              <a:solidFill>
                <a:prstClr val="black">
                  <a:tint val="75000"/>
                </a:prstClr>
              </a:solidFill>
            </a:endParaRPr>
          </a:p>
        </p:txBody>
      </p:sp>
    </p:spTree>
    <p:extLst>
      <p:ext uri="{BB962C8B-B14F-4D97-AF65-F5344CB8AC3E}">
        <p14:creationId xmlns:p14="http://schemas.microsoft.com/office/powerpoint/2010/main" val="3937484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838930686"/>
              </p:ext>
            </p:extLst>
          </p:nvPr>
        </p:nvGraphicFramePr>
        <p:xfrm>
          <a:off x="1819001" y="0"/>
          <a:ext cx="7776864" cy="375285"/>
        </p:xfrm>
        <a:graphic>
          <a:graphicData uri="http://schemas.openxmlformats.org/drawingml/2006/table">
            <a:tbl>
              <a:tblPr>
                <a:effectLst>
                  <a:outerShdw blurRad="50800" dist="38100" algn="l" rotWithShape="0">
                    <a:prstClr val="black">
                      <a:alpha val="40000"/>
                    </a:prstClr>
                  </a:outerShdw>
                </a:effectLst>
                <a:tableStyleId>{5C22544A-7EE6-4342-B048-85BDC9FD1C3A}</a:tableStyleId>
              </a:tblPr>
              <a:tblGrid>
                <a:gridCol w="7776864">
                  <a:extLst>
                    <a:ext uri="{9D8B030D-6E8A-4147-A177-3AD203B41FA5}">
                      <a16:colId xmlns:a16="http://schemas.microsoft.com/office/drawing/2014/main" val="20000"/>
                    </a:ext>
                  </a:extLst>
                </a:gridCol>
              </a:tblGrid>
              <a:tr h="360040">
                <a:tc>
                  <a:txBody>
                    <a:bodyPr/>
                    <a:lstStyle/>
                    <a:p>
                      <a:pPr algn="ctr" fontAlgn="b"/>
                      <a:r>
                        <a:rPr lang="en-US" sz="2400" b="1" u="none" strike="noStrike" dirty="0">
                          <a:effectLst/>
                          <a:latin typeface="Times New Roman" pitchFamily="18" charset="0"/>
                          <a:cs typeface="Times New Roman" pitchFamily="18" charset="0"/>
                        </a:rPr>
                        <a:t>Course Outcomes of Mini-Project</a:t>
                      </a:r>
                      <a:endParaRPr lang="en-US" sz="2400" b="1" i="0" u="none" strike="noStrike" dirty="0">
                        <a:solidFill>
                          <a:srgbClr val="000000"/>
                        </a:solidFill>
                        <a:effectLst/>
                        <a:latin typeface="Times New Roman" pitchFamily="18" charset="0"/>
                        <a:cs typeface="Times New Roman" pitchFamily="18" charset="0"/>
                      </a:endParaRPr>
                    </a:p>
                  </a:txBody>
                  <a:tcPr marL="9525" marR="9525" marT="9525" marB="0">
                    <a:solidFill>
                      <a:schemeClr val="tx2">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308167425"/>
              </p:ext>
            </p:extLst>
          </p:nvPr>
        </p:nvGraphicFramePr>
        <p:xfrm>
          <a:off x="1891009" y="417452"/>
          <a:ext cx="8040782" cy="2855203"/>
        </p:xfrm>
        <a:graphic>
          <a:graphicData uri="http://schemas.openxmlformats.org/drawingml/2006/table">
            <a:tbl>
              <a:tblPr firstRow="1" bandRow="1">
                <a:effectLst>
                  <a:outerShdw blurRad="76200" dir="18900000" sy="23000" kx="-1200000" algn="bl" rotWithShape="0">
                    <a:prstClr val="black">
                      <a:alpha val="20000"/>
                    </a:prstClr>
                  </a:outerShdw>
                </a:effectLst>
                <a:tableStyleId>{5FD0F851-EC5A-4D38-B0AD-8093EC10F338}</a:tableStyleId>
              </a:tblPr>
              <a:tblGrid>
                <a:gridCol w="886037">
                  <a:extLst>
                    <a:ext uri="{9D8B030D-6E8A-4147-A177-3AD203B41FA5}">
                      <a16:colId xmlns:a16="http://schemas.microsoft.com/office/drawing/2014/main" val="20000"/>
                    </a:ext>
                  </a:extLst>
                </a:gridCol>
                <a:gridCol w="7154745">
                  <a:extLst>
                    <a:ext uri="{9D8B030D-6E8A-4147-A177-3AD203B41FA5}">
                      <a16:colId xmlns:a16="http://schemas.microsoft.com/office/drawing/2014/main" val="20001"/>
                    </a:ext>
                  </a:extLst>
                </a:gridCol>
              </a:tblGrid>
              <a:tr h="432048">
                <a:tc>
                  <a:txBody>
                    <a:bodyPr/>
                    <a:lstStyle/>
                    <a:p>
                      <a:pPr algn="ctr"/>
                      <a:r>
                        <a:rPr lang="en-US"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1800" b="1" kern="1200" dirty="0">
                          <a:solidFill>
                            <a:schemeClr val="tx1"/>
                          </a:solidFill>
                          <a:latin typeface="+mn-lt"/>
                          <a:ea typeface="+mn-ea"/>
                          <a:cs typeface="+mn-cs"/>
                        </a:rPr>
                        <a:t>Ability to carry-out literature review and define the problem.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86931">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latin typeface="+mn-lt"/>
                          <a:ea typeface="+mn-ea"/>
                          <a:cs typeface="+mn-cs"/>
                        </a:rPr>
                        <a:t>Ability to co-ordinate to work as a team member or a single member.</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2048">
                <a:tc>
                  <a:txBody>
                    <a:bodyPr/>
                    <a:lstStyle/>
                    <a:p>
                      <a:pPr algn="ctr"/>
                      <a:r>
                        <a:rPr lang="en-US"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1800" b="1" kern="1200" dirty="0">
                          <a:solidFill>
                            <a:schemeClr val="tx1"/>
                          </a:solidFill>
                          <a:latin typeface="+mn-lt"/>
                          <a:ea typeface="+mn-ea"/>
                          <a:cs typeface="+mn-cs"/>
                        </a:rPr>
                        <a:t>Inculcate methods to use advance tools .</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32048">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1800" b="1" kern="1200" dirty="0">
                          <a:solidFill>
                            <a:schemeClr val="tx1"/>
                          </a:solidFill>
                          <a:latin typeface="+mn-lt"/>
                          <a:ea typeface="+mn-ea"/>
                          <a:cs typeface="+mn-cs"/>
                        </a:rPr>
                        <a:t>Design analytical modeling and develop a systems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2048">
                <a:tc>
                  <a:txBody>
                    <a:bodyPr/>
                    <a:lstStyle/>
                    <a:p>
                      <a:pPr algn="ctr"/>
                      <a:r>
                        <a:rPr lang="en-US" b="1"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1800" b="1" kern="1200" dirty="0">
                          <a:solidFill>
                            <a:schemeClr val="tx1"/>
                          </a:solidFill>
                          <a:latin typeface="+mn-lt"/>
                          <a:ea typeface="+mn-ea"/>
                          <a:cs typeface="+mn-cs"/>
                        </a:rPr>
                        <a:t>Ability to equip analysis skills and interpretation.</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32048">
                <a:tc>
                  <a:txBody>
                    <a:bodyPr/>
                    <a:lstStyle/>
                    <a:p>
                      <a:pPr algn="ctr"/>
                      <a:r>
                        <a:rPr lang="en-US" b="1"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latin typeface="+mn-lt"/>
                          <a:ea typeface="+mn-ea"/>
                          <a:cs typeface="+mn-cs"/>
                        </a:rPr>
                        <a:t>Enhance presentation skills, drafting  and documentation of project work.</a:t>
                      </a:r>
                    </a:p>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047730325"/>
              </p:ext>
            </p:extLst>
          </p:nvPr>
        </p:nvGraphicFramePr>
        <p:xfrm>
          <a:off x="1800665" y="3103204"/>
          <a:ext cx="8173329" cy="427861"/>
        </p:xfrm>
        <a:graphic>
          <a:graphicData uri="http://schemas.openxmlformats.org/drawingml/2006/table">
            <a:tbl>
              <a:tblPr>
                <a:effectLst>
                  <a:outerShdw blurRad="50800" dist="38100" dir="18900000" algn="bl" rotWithShape="0">
                    <a:prstClr val="black">
                      <a:alpha val="40000"/>
                    </a:prstClr>
                  </a:outerShdw>
                </a:effectLst>
                <a:tableStyleId>{5C22544A-7EE6-4342-B048-85BDC9FD1C3A}</a:tableStyleId>
              </a:tblPr>
              <a:tblGrid>
                <a:gridCol w="8173329">
                  <a:extLst>
                    <a:ext uri="{9D8B030D-6E8A-4147-A177-3AD203B41FA5}">
                      <a16:colId xmlns:a16="http://schemas.microsoft.com/office/drawing/2014/main" val="20000"/>
                    </a:ext>
                  </a:extLst>
                </a:gridCol>
              </a:tblGrid>
              <a:tr h="427861">
                <a:tc>
                  <a:txBody>
                    <a:bodyPr/>
                    <a:lstStyle/>
                    <a:p>
                      <a:pPr algn="ctr" fontAlgn="b"/>
                      <a:r>
                        <a:rPr lang="en-US" sz="2000" b="1" u="none" strike="noStrike" dirty="0">
                          <a:effectLst/>
                          <a:latin typeface="Times New Roman" pitchFamily="18" charset="0"/>
                          <a:cs typeface="Times New Roman" pitchFamily="18" charset="0"/>
                        </a:rPr>
                        <a:t>CO-PO Mapping Table</a:t>
                      </a:r>
                      <a:endParaRPr lang="en-US" sz="2000" b="1" i="0" u="none" strike="noStrike" dirty="0">
                        <a:solidFill>
                          <a:srgbClr val="000000"/>
                        </a:solidFill>
                        <a:effectLst/>
                        <a:latin typeface="Times New Roman" pitchFamily="18" charset="0"/>
                        <a:cs typeface="Times New Roman" pitchFamily="18" charset="0"/>
                      </a:endParaRPr>
                    </a:p>
                  </a:txBody>
                  <a:tcPr marL="9525" marR="9525" marT="9525" marB="0"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267017663"/>
              </p:ext>
            </p:extLst>
          </p:nvPr>
        </p:nvGraphicFramePr>
        <p:xfrm>
          <a:off x="1372176" y="3508786"/>
          <a:ext cx="9164528" cy="2865120"/>
        </p:xfrm>
        <a:graphic>
          <a:graphicData uri="http://schemas.openxmlformats.org/drawingml/2006/table">
            <a:tbl>
              <a:tblPr firstRow="1" bandRow="1">
                <a:tableStyleId>{68D230F3-CF80-4859-8CE7-A43EE81993B5}</a:tableStyleId>
              </a:tblPr>
              <a:tblGrid>
                <a:gridCol w="572783">
                  <a:extLst>
                    <a:ext uri="{9D8B030D-6E8A-4147-A177-3AD203B41FA5}">
                      <a16:colId xmlns:a16="http://schemas.microsoft.com/office/drawing/2014/main" val="20000"/>
                    </a:ext>
                  </a:extLst>
                </a:gridCol>
                <a:gridCol w="572783">
                  <a:extLst>
                    <a:ext uri="{9D8B030D-6E8A-4147-A177-3AD203B41FA5}">
                      <a16:colId xmlns:a16="http://schemas.microsoft.com/office/drawing/2014/main" val="20001"/>
                    </a:ext>
                  </a:extLst>
                </a:gridCol>
                <a:gridCol w="572783">
                  <a:extLst>
                    <a:ext uri="{9D8B030D-6E8A-4147-A177-3AD203B41FA5}">
                      <a16:colId xmlns:a16="http://schemas.microsoft.com/office/drawing/2014/main" val="20002"/>
                    </a:ext>
                  </a:extLst>
                </a:gridCol>
                <a:gridCol w="572783">
                  <a:extLst>
                    <a:ext uri="{9D8B030D-6E8A-4147-A177-3AD203B41FA5}">
                      <a16:colId xmlns:a16="http://schemas.microsoft.com/office/drawing/2014/main" val="20003"/>
                    </a:ext>
                  </a:extLst>
                </a:gridCol>
                <a:gridCol w="572783">
                  <a:extLst>
                    <a:ext uri="{9D8B030D-6E8A-4147-A177-3AD203B41FA5}">
                      <a16:colId xmlns:a16="http://schemas.microsoft.com/office/drawing/2014/main" val="20004"/>
                    </a:ext>
                  </a:extLst>
                </a:gridCol>
                <a:gridCol w="572783">
                  <a:extLst>
                    <a:ext uri="{9D8B030D-6E8A-4147-A177-3AD203B41FA5}">
                      <a16:colId xmlns:a16="http://schemas.microsoft.com/office/drawing/2014/main" val="20005"/>
                    </a:ext>
                  </a:extLst>
                </a:gridCol>
                <a:gridCol w="572783">
                  <a:extLst>
                    <a:ext uri="{9D8B030D-6E8A-4147-A177-3AD203B41FA5}">
                      <a16:colId xmlns:a16="http://schemas.microsoft.com/office/drawing/2014/main" val="20006"/>
                    </a:ext>
                  </a:extLst>
                </a:gridCol>
                <a:gridCol w="572783">
                  <a:extLst>
                    <a:ext uri="{9D8B030D-6E8A-4147-A177-3AD203B41FA5}">
                      <a16:colId xmlns:a16="http://schemas.microsoft.com/office/drawing/2014/main" val="20007"/>
                    </a:ext>
                  </a:extLst>
                </a:gridCol>
                <a:gridCol w="572783">
                  <a:extLst>
                    <a:ext uri="{9D8B030D-6E8A-4147-A177-3AD203B41FA5}">
                      <a16:colId xmlns:a16="http://schemas.microsoft.com/office/drawing/2014/main" val="20008"/>
                    </a:ext>
                  </a:extLst>
                </a:gridCol>
                <a:gridCol w="572783">
                  <a:extLst>
                    <a:ext uri="{9D8B030D-6E8A-4147-A177-3AD203B41FA5}">
                      <a16:colId xmlns:a16="http://schemas.microsoft.com/office/drawing/2014/main" val="20009"/>
                    </a:ext>
                  </a:extLst>
                </a:gridCol>
                <a:gridCol w="572783">
                  <a:extLst>
                    <a:ext uri="{9D8B030D-6E8A-4147-A177-3AD203B41FA5}">
                      <a16:colId xmlns:a16="http://schemas.microsoft.com/office/drawing/2014/main" val="20010"/>
                    </a:ext>
                  </a:extLst>
                </a:gridCol>
                <a:gridCol w="572783">
                  <a:extLst>
                    <a:ext uri="{9D8B030D-6E8A-4147-A177-3AD203B41FA5}">
                      <a16:colId xmlns:a16="http://schemas.microsoft.com/office/drawing/2014/main" val="20011"/>
                    </a:ext>
                  </a:extLst>
                </a:gridCol>
                <a:gridCol w="572783">
                  <a:extLst>
                    <a:ext uri="{9D8B030D-6E8A-4147-A177-3AD203B41FA5}">
                      <a16:colId xmlns:a16="http://schemas.microsoft.com/office/drawing/2014/main" val="20012"/>
                    </a:ext>
                  </a:extLst>
                </a:gridCol>
                <a:gridCol w="572783">
                  <a:extLst>
                    <a:ext uri="{9D8B030D-6E8A-4147-A177-3AD203B41FA5}">
                      <a16:colId xmlns:a16="http://schemas.microsoft.com/office/drawing/2014/main" val="20013"/>
                    </a:ext>
                  </a:extLst>
                </a:gridCol>
                <a:gridCol w="572783">
                  <a:extLst>
                    <a:ext uri="{9D8B030D-6E8A-4147-A177-3AD203B41FA5}">
                      <a16:colId xmlns:a16="http://schemas.microsoft.com/office/drawing/2014/main" val="20014"/>
                    </a:ext>
                  </a:extLst>
                </a:gridCol>
                <a:gridCol w="572783">
                  <a:extLst>
                    <a:ext uri="{9D8B030D-6E8A-4147-A177-3AD203B41FA5}">
                      <a16:colId xmlns:a16="http://schemas.microsoft.com/office/drawing/2014/main" val="20015"/>
                    </a:ext>
                  </a:extLst>
                </a:gridCol>
              </a:tblGrid>
              <a:tr h="370840">
                <a:tc>
                  <a:txBody>
                    <a:bodyPr/>
                    <a:lstStyle/>
                    <a:p>
                      <a:r>
                        <a:rPr lang="en-US" sz="1400" dirty="0"/>
                        <a:t>   PO</a:t>
                      </a:r>
                    </a:p>
                    <a:p>
                      <a:r>
                        <a:rPr lang="en-US" sz="1400" dirty="0"/>
                        <a:t>CO</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accent4">
                        <a:lumMod val="20000"/>
                        <a:lumOff val="80000"/>
                      </a:schemeClr>
                    </a:solidFill>
                  </a:tcPr>
                </a:tc>
                <a:tc>
                  <a:txBody>
                    <a:bodyPr/>
                    <a:lstStyle/>
                    <a:p>
                      <a:pPr algn="ctr"/>
                      <a:r>
                        <a:rPr lang="en-US"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4</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5</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6</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7</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8</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9</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10</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11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12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PSO</a:t>
                      </a:r>
                    </a:p>
                    <a:p>
                      <a:pPr algn="ctr"/>
                      <a:r>
                        <a:rPr lang="en-US" dirty="0"/>
                        <a:t>   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PSO</a:t>
                      </a:r>
                    </a:p>
                    <a:p>
                      <a:pPr algn="ctr"/>
                      <a:r>
                        <a:rPr lang="en-US" dirty="0"/>
                        <a:t>   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dirty="0"/>
                        <a:t>PSO</a:t>
                      </a:r>
                    </a:p>
                    <a:p>
                      <a:pPr algn="ctr"/>
                      <a:r>
                        <a:rPr lang="en-US" dirty="0"/>
                        <a:t>   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endParaRPr lang="en-US"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endParaRPr lang="en-US"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endParaRPr lang="en-US"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b="1" dirty="0"/>
                        <a:t>4</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tc>
                  <a:txBody>
                    <a:bodyPr/>
                    <a:lstStyle/>
                    <a:p>
                      <a:endParaRPr lang="en-US"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b="1" dirty="0"/>
                        <a:t>5</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endParaRPr lang="en-US"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US" b="1" dirty="0"/>
                        <a:t>6</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3</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1</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endParaRPr lang="en-US" b="1"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pPr algn="ctr"/>
                      <a:r>
                        <a:rPr lang="en-US" b="1" dirty="0"/>
                        <a:t>2</a:t>
                      </a:r>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tc>
                  <a:txBody>
                    <a:bodyPr/>
                    <a:lstStyle/>
                    <a:p>
                      <a:endParaRPr lang="en-US" dirty="0"/>
                    </a:p>
                  </a:txBody>
                  <a:tcPr>
                    <a:lnL w="3175" cap="flat" cmpd="sng" algn="ctr">
                      <a:solidFill>
                        <a:schemeClr val="accent4">
                          <a:lumMod val="60000"/>
                          <a:lumOff val="40000"/>
                        </a:schemeClr>
                      </a:solidFill>
                      <a:prstDash val="solid"/>
                      <a:round/>
                      <a:headEnd type="none" w="med" len="med"/>
                      <a:tailEnd type="none" w="med" len="med"/>
                    </a:lnL>
                    <a:lnR w="3175" cap="flat" cmpd="sng" algn="ctr">
                      <a:solidFill>
                        <a:schemeClr val="accent4">
                          <a:lumMod val="60000"/>
                          <a:lumOff val="4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2" name="Slide Number Placeholder 1">
            <a:extLst>
              <a:ext uri="{FF2B5EF4-FFF2-40B4-BE49-F238E27FC236}">
                <a16:creationId xmlns:a16="http://schemas.microsoft.com/office/drawing/2014/main" id="{531DCA62-3D93-CC29-010E-7864D6945FB2}"/>
              </a:ext>
            </a:extLst>
          </p:cNvPr>
          <p:cNvSpPr>
            <a:spLocks noGrp="1"/>
          </p:cNvSpPr>
          <p:nvPr>
            <p:ph type="sldNum" sz="quarter" idx="12"/>
          </p:nvPr>
        </p:nvSpPr>
        <p:spPr>
          <a:xfrm>
            <a:off x="11061290" y="6216818"/>
            <a:ext cx="292510" cy="358399"/>
          </a:xfrm>
        </p:spPr>
        <p:txBody>
          <a:bodyPr/>
          <a:lstStyle/>
          <a:p>
            <a:fld id="{CCB6B689-C4E4-455B-8D67-3A7798DC1D52}" type="slidenum">
              <a:rPr lang="en-IN" smtClean="0">
                <a:solidFill>
                  <a:prstClr val="black">
                    <a:tint val="75000"/>
                  </a:prstClr>
                </a:solidFill>
              </a:rPr>
              <a:pPr/>
              <a:t>5</a:t>
            </a:fld>
            <a:endParaRPr lang="en-IN" dirty="0">
              <a:solidFill>
                <a:prstClr val="black">
                  <a:tint val="75000"/>
                </a:prstClr>
              </a:solidFill>
            </a:endParaRPr>
          </a:p>
        </p:txBody>
      </p:sp>
    </p:spTree>
    <p:extLst>
      <p:ext uri="{BB962C8B-B14F-4D97-AF65-F5344CB8AC3E}">
        <p14:creationId xmlns:p14="http://schemas.microsoft.com/office/powerpoint/2010/main" val="1019021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latin typeface="Cambria" panose="02040503050406030204" pitchFamily="18" charset="0"/>
              </a:rPr>
              <a:t>  </a:t>
            </a:r>
            <a:r>
              <a:rPr lang="en-IN" sz="2400" b="1" dirty="0">
                <a:solidFill>
                  <a:schemeClr val="bg1"/>
                </a:solidFill>
                <a:latin typeface="Times New Roman" panose="02020603050405020304" pitchFamily="18" charset="0"/>
                <a:cs typeface="Times New Roman" panose="02020603050405020304" pitchFamily="18" charset="0"/>
              </a:rPr>
              <a:t>CONTENTS</a:t>
            </a:r>
          </a:p>
        </p:txBody>
      </p:sp>
      <p:sp>
        <p:nvSpPr>
          <p:cNvPr id="2" name="Slide Number Placeholder 1">
            <a:extLst>
              <a:ext uri="{FF2B5EF4-FFF2-40B4-BE49-F238E27FC236}">
                <a16:creationId xmlns:a16="http://schemas.microsoft.com/office/drawing/2014/main" id="{91B4F186-701A-9A9C-DE3F-39598372AB41}"/>
              </a:ext>
            </a:extLst>
          </p:cNvPr>
          <p:cNvSpPr>
            <a:spLocks noGrp="1"/>
          </p:cNvSpPr>
          <p:nvPr>
            <p:ph type="sldNum" sz="quarter" idx="12"/>
          </p:nvPr>
        </p:nvSpPr>
        <p:spPr>
          <a:xfrm>
            <a:off x="8728730" y="6224005"/>
            <a:ext cx="2743200" cy="365125"/>
          </a:xfrm>
        </p:spPr>
        <p:txBody>
          <a:bodyPr/>
          <a:lstStyle/>
          <a:p>
            <a:fld id="{CCB6B689-C4E4-455B-8D67-3A7798DC1D52}" type="slidenum">
              <a:rPr lang="en-IN" smtClean="0">
                <a:solidFill>
                  <a:prstClr val="black">
                    <a:tint val="75000"/>
                  </a:prstClr>
                </a:solidFill>
              </a:rPr>
              <a:pPr/>
              <a:t>6</a:t>
            </a:fld>
            <a:endParaRPr lang="en-IN" dirty="0">
              <a:solidFill>
                <a:prstClr val="black">
                  <a:tint val="75000"/>
                </a:prstClr>
              </a:solidFill>
            </a:endParaRPr>
          </a:p>
        </p:txBody>
      </p:sp>
      <p:graphicFrame>
        <p:nvGraphicFramePr>
          <p:cNvPr id="3" name="Table 2">
            <a:extLst>
              <a:ext uri="{FF2B5EF4-FFF2-40B4-BE49-F238E27FC236}">
                <a16:creationId xmlns:a16="http://schemas.microsoft.com/office/drawing/2014/main" id="{40AFB159-CD3F-101F-0669-BB8AC7C171B3}"/>
              </a:ext>
            </a:extLst>
          </p:cNvPr>
          <p:cNvGraphicFramePr>
            <a:graphicFrameLocks noGrp="1"/>
          </p:cNvGraphicFramePr>
          <p:nvPr>
            <p:extLst>
              <p:ext uri="{D42A27DB-BD31-4B8C-83A1-F6EECF244321}">
                <p14:modId xmlns:p14="http://schemas.microsoft.com/office/powerpoint/2010/main" val="2282097217"/>
              </p:ext>
            </p:extLst>
          </p:nvPr>
        </p:nvGraphicFramePr>
        <p:xfrm>
          <a:off x="501445" y="570271"/>
          <a:ext cx="11277600" cy="4754880"/>
        </p:xfrm>
        <a:graphic>
          <a:graphicData uri="http://schemas.openxmlformats.org/drawingml/2006/table">
            <a:tbl>
              <a:tblPr firstRow="1" bandRow="1">
                <a:tableStyleId>{93296810-A885-4BE3-A3E7-6D5BEEA58F35}</a:tableStyleId>
              </a:tblPr>
              <a:tblGrid>
                <a:gridCol w="1976284">
                  <a:extLst>
                    <a:ext uri="{9D8B030D-6E8A-4147-A177-3AD203B41FA5}">
                      <a16:colId xmlns:a16="http://schemas.microsoft.com/office/drawing/2014/main" val="2963952570"/>
                    </a:ext>
                  </a:extLst>
                </a:gridCol>
                <a:gridCol w="7246374">
                  <a:extLst>
                    <a:ext uri="{9D8B030D-6E8A-4147-A177-3AD203B41FA5}">
                      <a16:colId xmlns:a16="http://schemas.microsoft.com/office/drawing/2014/main" val="3005734711"/>
                    </a:ext>
                  </a:extLst>
                </a:gridCol>
                <a:gridCol w="2054942">
                  <a:extLst>
                    <a:ext uri="{9D8B030D-6E8A-4147-A177-3AD203B41FA5}">
                      <a16:colId xmlns:a16="http://schemas.microsoft.com/office/drawing/2014/main" val="1246587507"/>
                    </a:ext>
                  </a:extLst>
                </a:gridCol>
              </a:tblGrid>
              <a:tr h="381511">
                <a:tc>
                  <a:txBody>
                    <a:bodyPr/>
                    <a:lstStyle/>
                    <a:p>
                      <a:pPr algn="ctr"/>
                      <a:r>
                        <a:rPr lang="en-US" sz="2000" dirty="0">
                          <a:latin typeface="Times New Roman" panose="02020603050405020304" pitchFamily="18" charset="0"/>
                          <a:cs typeface="Times New Roman" panose="02020603050405020304" pitchFamily="18" charset="0"/>
                        </a:rPr>
                        <a:t>Sl no.</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Topic</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Page no.</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70670750"/>
                  </a:ext>
                </a:extLst>
              </a:tr>
              <a:tr h="381511">
                <a:tc>
                  <a:txBody>
                    <a:bodyPr/>
                    <a:lstStyle/>
                    <a:p>
                      <a:pPr algn="ctr"/>
                      <a:r>
                        <a:rPr lang="en-US" sz="2000" dirty="0">
                          <a:latin typeface="Times New Roman" panose="02020603050405020304" pitchFamily="18" charset="0"/>
                          <a:cs typeface="Times New Roman" panose="02020603050405020304" pitchFamily="18" charset="0"/>
                        </a:rPr>
                        <a:t>1</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Abstract</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7</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51592549"/>
                  </a:ext>
                </a:extLst>
              </a:tr>
              <a:tr h="381511">
                <a:tc>
                  <a:txBody>
                    <a:bodyPr/>
                    <a:lstStyle/>
                    <a:p>
                      <a:pPr algn="ctr"/>
                      <a:r>
                        <a:rPr lang="en-US" sz="2000" dirty="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Introduction</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89474686"/>
                  </a:ext>
                </a:extLst>
              </a:tr>
              <a:tr h="381511">
                <a:tc>
                  <a:txBody>
                    <a:bodyPr/>
                    <a:lstStyle/>
                    <a:p>
                      <a:pPr algn="ctr"/>
                      <a:r>
                        <a:rPr lang="en-US" sz="2000" dirty="0">
                          <a:latin typeface="Times New Roman" panose="02020603050405020304" pitchFamily="18" charset="0"/>
                          <a:cs typeface="Times New Roman" panose="02020603050405020304" pitchFamily="18" charset="0"/>
                        </a:rPr>
                        <a:t>3</a:t>
                      </a:r>
                      <a:endParaRPr lang="en-IN" sz="2000" dirty="0">
                        <a:latin typeface="Times New Roman" panose="02020603050405020304" pitchFamily="18" charset="0"/>
                        <a:cs typeface="Times New Roman" panose="02020603050405020304" pitchFamily="18" charset="0"/>
                      </a:endParaRPr>
                    </a:p>
                  </a:txBody>
                  <a:tcPr/>
                </a:tc>
                <a:tc>
                  <a:txBody>
                    <a:bodyPr/>
                    <a:lstStyle/>
                    <a:p>
                      <a:pPr algn="ctr" rtl="0" eaLnBrk="1" latinLnBrk="0" hangingPunct="1"/>
                      <a:r>
                        <a:rPr lang="en-US" sz="2000" kern="1200" dirty="0">
                          <a:solidFill>
                            <a:schemeClr val="dk1"/>
                          </a:solidFill>
                          <a:effectLst/>
                          <a:latin typeface="Times New Roman" panose="02020603050405020304" pitchFamily="18" charset="0"/>
                          <a:ea typeface="+mn-ea"/>
                          <a:cs typeface="Times New Roman" panose="02020603050405020304" pitchFamily="18" charset="0"/>
                        </a:rPr>
                        <a:t>O</a:t>
                      </a:r>
                      <a:r>
                        <a:rPr lang="en-IN" sz="2000" kern="1200" dirty="0" err="1">
                          <a:solidFill>
                            <a:schemeClr val="dk1"/>
                          </a:solidFill>
                          <a:effectLst/>
                          <a:latin typeface="Times New Roman" panose="02020603050405020304" pitchFamily="18" charset="0"/>
                          <a:ea typeface="+mn-ea"/>
                          <a:cs typeface="Times New Roman" panose="02020603050405020304" pitchFamily="18" charset="0"/>
                        </a:rPr>
                        <a:t>bjectives</a:t>
                      </a:r>
                      <a:endParaRPr lang="en-IN" sz="2000" dirty="0">
                        <a:effectLst/>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9</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5976488"/>
                  </a:ext>
                </a:extLst>
              </a:tr>
              <a:tr h="381511">
                <a:tc>
                  <a:txBody>
                    <a:bodyPr/>
                    <a:lstStyle/>
                    <a:p>
                      <a:pPr algn="ctr"/>
                      <a:r>
                        <a:rPr lang="en-US" sz="2000" dirty="0">
                          <a:latin typeface="Times New Roman" panose="02020603050405020304" pitchFamily="18" charset="0"/>
                          <a:cs typeface="Times New Roman" panose="02020603050405020304" pitchFamily="18" charset="0"/>
                        </a:rPr>
                        <a:t>4</a:t>
                      </a:r>
                      <a:endParaRPr lang="en-IN" sz="2000" dirty="0">
                        <a:latin typeface="Times New Roman" panose="02020603050405020304" pitchFamily="18" charset="0"/>
                        <a:cs typeface="Times New Roman" panose="02020603050405020304" pitchFamily="18" charset="0"/>
                      </a:endParaRPr>
                    </a:p>
                  </a:txBody>
                  <a:tcPr/>
                </a:tc>
                <a:tc>
                  <a:txBody>
                    <a:bodyPr/>
                    <a:lstStyle/>
                    <a:p>
                      <a:pPr algn="ctr" rtl="0" eaLnBrk="1" latinLnBrk="0" hangingPunct="1"/>
                      <a:r>
                        <a:rPr lang="en-US" sz="2000" kern="1200" dirty="0">
                          <a:solidFill>
                            <a:schemeClr val="dk1"/>
                          </a:solidFill>
                          <a:effectLst/>
                          <a:latin typeface="Times New Roman" panose="02020603050405020304" pitchFamily="18" charset="0"/>
                          <a:ea typeface="+mn-ea"/>
                          <a:cs typeface="Times New Roman" panose="02020603050405020304" pitchFamily="18" charset="0"/>
                        </a:rPr>
                        <a:t>Literature Survey</a:t>
                      </a:r>
                      <a:endParaRPr lang="en-IN" sz="2000" dirty="0">
                        <a:effectLst/>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10 - 11</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31377533"/>
                  </a:ext>
                </a:extLst>
              </a:tr>
              <a:tr h="381511">
                <a:tc>
                  <a:txBody>
                    <a:bodyPr/>
                    <a:lstStyle/>
                    <a:p>
                      <a:pPr algn="ctr"/>
                      <a:r>
                        <a:rPr lang="en-IN" sz="2000" dirty="0">
                          <a:latin typeface="Times New Roman" panose="02020603050405020304" pitchFamily="18" charset="0"/>
                          <a:cs typeface="Times New Roman" panose="02020603050405020304" pitchFamily="18" charset="0"/>
                        </a:rPr>
                        <a:t>5</a:t>
                      </a:r>
                    </a:p>
                  </a:txBody>
                  <a:tcPr/>
                </a:tc>
                <a:tc>
                  <a:txBody>
                    <a:bodyPr/>
                    <a:lstStyle/>
                    <a:p>
                      <a:pPr algn="ctr"/>
                      <a:r>
                        <a:rPr lang="en-US" sz="2000" dirty="0">
                          <a:latin typeface="Times New Roman" panose="02020603050405020304" pitchFamily="18" charset="0"/>
                          <a:cs typeface="Times New Roman" panose="02020603050405020304" pitchFamily="18" charset="0"/>
                        </a:rPr>
                        <a:t>Research Gaps</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12</a:t>
                      </a:r>
                    </a:p>
                  </a:txBody>
                  <a:tcPr/>
                </a:tc>
                <a:extLst>
                  <a:ext uri="{0D108BD9-81ED-4DB2-BD59-A6C34878D82A}">
                    <a16:rowId xmlns:a16="http://schemas.microsoft.com/office/drawing/2014/main" val="2220473418"/>
                  </a:ext>
                </a:extLst>
              </a:tr>
              <a:tr h="381511">
                <a:tc>
                  <a:txBody>
                    <a:bodyPr/>
                    <a:lstStyle/>
                    <a:p>
                      <a:pPr algn="ctr"/>
                      <a:r>
                        <a:rPr lang="en-IN" sz="2000" dirty="0">
                          <a:latin typeface="Times New Roman" panose="02020603050405020304" pitchFamily="18" charset="0"/>
                          <a:cs typeface="Times New Roman" panose="02020603050405020304" pitchFamily="18" charset="0"/>
                        </a:rPr>
                        <a:t>6</a:t>
                      </a:r>
                    </a:p>
                  </a:txBody>
                  <a:tcPr/>
                </a:tc>
                <a:tc>
                  <a:txBody>
                    <a:bodyPr/>
                    <a:lstStyle/>
                    <a:p>
                      <a:pPr algn="ctr"/>
                      <a:r>
                        <a:rPr lang="en-US" sz="2000" dirty="0">
                          <a:latin typeface="Times New Roman" panose="02020603050405020304" pitchFamily="18" charset="0"/>
                          <a:cs typeface="Times New Roman" panose="02020603050405020304" pitchFamily="18" charset="0"/>
                        </a:rPr>
                        <a:t>Methodology Adopted</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13</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23418798"/>
                  </a:ext>
                </a:extLst>
              </a:tr>
              <a:tr h="381511">
                <a:tc>
                  <a:txBody>
                    <a:bodyPr/>
                    <a:lstStyle/>
                    <a:p>
                      <a:pPr algn="ctr"/>
                      <a:r>
                        <a:rPr lang="en-IN" sz="2000" dirty="0">
                          <a:latin typeface="Times New Roman" panose="02020603050405020304" pitchFamily="18" charset="0"/>
                          <a:cs typeface="Times New Roman" panose="02020603050405020304" pitchFamily="18" charset="0"/>
                        </a:rPr>
                        <a:t>7</a:t>
                      </a:r>
                    </a:p>
                  </a:txBody>
                  <a:tcPr/>
                </a:tc>
                <a:tc>
                  <a:txBody>
                    <a:bodyPr/>
                    <a:lstStyle/>
                    <a:p>
                      <a:pPr algn="ctr"/>
                      <a:r>
                        <a:rPr lang="en-US" sz="2000" dirty="0">
                          <a:latin typeface="Times New Roman" panose="02020603050405020304" pitchFamily="18" charset="0"/>
                          <a:cs typeface="Times New Roman" panose="02020603050405020304" pitchFamily="18" charset="0"/>
                        </a:rPr>
                        <a:t>Components &amp; Architecture</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14</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56195879"/>
                  </a:ext>
                </a:extLst>
              </a:tr>
              <a:tr h="381511">
                <a:tc>
                  <a:txBody>
                    <a:bodyPr/>
                    <a:lstStyle/>
                    <a:p>
                      <a:pPr algn="ctr"/>
                      <a:r>
                        <a:rPr lang="en-US" sz="2000" dirty="0">
                          <a:latin typeface="Times New Roman" panose="02020603050405020304" pitchFamily="18" charset="0"/>
                          <a:cs typeface="Times New Roman" panose="02020603050405020304" pitchFamily="18" charset="0"/>
                        </a:rPr>
                        <a:t>8</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Progress so far</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20126999"/>
                  </a:ext>
                </a:extLst>
              </a:tr>
              <a:tr h="381511">
                <a:tc>
                  <a:txBody>
                    <a:bodyPr/>
                    <a:lstStyle/>
                    <a:p>
                      <a:pPr algn="ctr"/>
                      <a:r>
                        <a:rPr lang="en-US" sz="2000" dirty="0">
                          <a:latin typeface="Times New Roman" panose="02020603050405020304" pitchFamily="18" charset="0"/>
                          <a:cs typeface="Times New Roman" panose="02020603050405020304" pitchFamily="18" charset="0"/>
                        </a:rPr>
                        <a:t>9</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Next Plan</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16</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5492469"/>
                  </a:ext>
                </a:extLst>
              </a:tr>
              <a:tr h="381511">
                <a:tc>
                  <a:txBody>
                    <a:bodyPr/>
                    <a:lstStyle/>
                    <a:p>
                      <a:pPr algn="ctr"/>
                      <a:r>
                        <a:rPr lang="en-US" sz="2000" dirty="0">
                          <a:latin typeface="Times New Roman" panose="02020603050405020304" pitchFamily="18" charset="0"/>
                          <a:cs typeface="Times New Roman" panose="02020603050405020304" pitchFamily="18" charset="0"/>
                        </a:rPr>
                        <a:t>10</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Conclusion</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17</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29004732"/>
                  </a:ext>
                </a:extLst>
              </a:tr>
              <a:tr h="0">
                <a:tc>
                  <a:txBody>
                    <a:bodyPr/>
                    <a:lstStyle/>
                    <a:p>
                      <a:pPr algn="ctr"/>
                      <a:r>
                        <a:rPr lang="en-US" sz="2000" dirty="0">
                          <a:latin typeface="Times New Roman" panose="02020603050405020304" pitchFamily="18" charset="0"/>
                          <a:cs typeface="Times New Roman" panose="02020603050405020304" pitchFamily="18" charset="0"/>
                        </a:rPr>
                        <a:t>11</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References</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18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32750609"/>
                  </a:ext>
                </a:extLst>
              </a:tr>
            </a:tbl>
          </a:graphicData>
        </a:graphic>
      </p:graphicFrame>
    </p:spTree>
    <p:extLst>
      <p:ext uri="{BB962C8B-B14F-4D97-AF65-F5344CB8AC3E}">
        <p14:creationId xmlns:p14="http://schemas.microsoft.com/office/powerpoint/2010/main" val="1019021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p:cNvSpPr txBox="1">
            <a:spLocks/>
          </p:cNvSpPr>
          <p:nvPr/>
        </p:nvSpPr>
        <p:spPr>
          <a:xfrm>
            <a:off x="0" y="-39329"/>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solidFill>
                  <a:schemeClr val="bg1"/>
                </a:solidFill>
                <a:latin typeface="Times New Roman" panose="02020603050405020304" pitchFamily="18" charset="0"/>
                <a:cs typeface="Times New Roman" panose="02020603050405020304" pitchFamily="18" charset="0"/>
              </a:rPr>
              <a:t>  </a:t>
            </a:r>
            <a:r>
              <a:rPr lang="en-IN" sz="2400" b="1" dirty="0">
                <a:solidFill>
                  <a:schemeClr val="bg1"/>
                </a:solidFill>
                <a:latin typeface="Times New Roman" panose="02020603050405020304" pitchFamily="18" charset="0"/>
                <a:cs typeface="Times New Roman" panose="02020603050405020304" pitchFamily="18" charset="0"/>
              </a:rPr>
              <a:t>ABSTRACT</a:t>
            </a:r>
          </a:p>
        </p:txBody>
      </p:sp>
      <p:sp>
        <p:nvSpPr>
          <p:cNvPr id="4" name="Slide Number Placeholder 3">
            <a:extLst>
              <a:ext uri="{FF2B5EF4-FFF2-40B4-BE49-F238E27FC236}">
                <a16:creationId xmlns:a16="http://schemas.microsoft.com/office/drawing/2014/main" id="{57DCC64E-B936-5F5E-7C9E-4FF6A224845C}"/>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7</a:t>
            </a:fld>
            <a:endParaRPr lang="en-IN" dirty="0">
              <a:solidFill>
                <a:prstClr val="black">
                  <a:tint val="75000"/>
                </a:prstClr>
              </a:solidFill>
            </a:endParaRPr>
          </a:p>
        </p:txBody>
      </p:sp>
      <p:sp>
        <p:nvSpPr>
          <p:cNvPr id="3" name="Rectangle 1">
            <a:extLst>
              <a:ext uri="{FF2B5EF4-FFF2-40B4-BE49-F238E27FC236}">
                <a16:creationId xmlns:a16="http://schemas.microsoft.com/office/drawing/2014/main" id="{E8F800AB-15D4-34F0-4C79-5E55A1EFD15F}"/>
              </a:ext>
            </a:extLst>
          </p:cNvPr>
          <p:cNvSpPr>
            <a:spLocks noChangeArrowheads="1"/>
          </p:cNvSpPr>
          <p:nvPr/>
        </p:nvSpPr>
        <p:spPr bwMode="auto">
          <a:xfrm>
            <a:off x="956330" y="987129"/>
            <a:ext cx="1016887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details the design and implementation of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cost-effective and feature-rich Network-Attached Storage (NAS)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 on a Raspberry Pi.</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primary goal is to create a centralized, reliable, and secure platform for data storage, media streaming, and personal cloud services.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leveraging open-source tools like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OpenMediaVault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Docker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Plex</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system provides enterprise-grade functionality on consumer hardware.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addresses key challenges in personal data management, including accessibility, security, and automated backups, resulting in a robust and scalable solution.</a:t>
            </a:r>
          </a:p>
        </p:txBody>
      </p:sp>
    </p:spTree>
    <p:extLst>
      <p:ext uri="{BB962C8B-B14F-4D97-AF65-F5344CB8AC3E}">
        <p14:creationId xmlns:p14="http://schemas.microsoft.com/office/powerpoint/2010/main" val="1019021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E6143-85FF-58E0-301F-D6A495E8FA8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2C0C8CF-FB36-18F3-A245-AC580CA964C0}"/>
              </a:ext>
            </a:extLst>
          </p:cNvPr>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C0A28C05-2B0E-92DC-519C-4300A75E844C}"/>
              </a:ext>
            </a:extLst>
          </p:cNvPr>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F388ED7C-C1FB-F7C0-449A-F8CFE4993F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a:extLst>
              <a:ext uri="{FF2B5EF4-FFF2-40B4-BE49-F238E27FC236}">
                <a16:creationId xmlns:a16="http://schemas.microsoft.com/office/drawing/2014/main" id="{18C9B8DF-EF77-BF64-9501-4C723FB91EB0}"/>
              </a:ext>
            </a:extLst>
          </p:cNvPr>
          <p:cNvSpPr txBox="1">
            <a:spLocks/>
          </p:cNvSpPr>
          <p:nvPr/>
        </p:nvSpPr>
        <p:spPr>
          <a:xfrm>
            <a:off x="0" y="-2032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solidFill>
                  <a:schemeClr val="bg1"/>
                </a:solidFill>
                <a:latin typeface="Times New Roman" panose="02020603050405020304" pitchFamily="18" charset="0"/>
                <a:cs typeface="Times New Roman" panose="02020603050405020304" pitchFamily="18" charset="0"/>
              </a:rPr>
              <a:t>  </a:t>
            </a:r>
            <a:r>
              <a:rPr lang="en-IN" sz="2400" b="1" dirty="0">
                <a:solidFill>
                  <a:schemeClr val="bg1"/>
                </a:solidFill>
                <a:latin typeface="Times New Roman" panose="02020603050405020304" pitchFamily="18" charset="0"/>
                <a:cs typeface="Times New Roman" panose="02020603050405020304" pitchFamily="18" charset="0"/>
              </a:rPr>
              <a:t>INTRODUCTION </a:t>
            </a:r>
          </a:p>
        </p:txBody>
      </p:sp>
      <p:sp>
        <p:nvSpPr>
          <p:cNvPr id="4" name="Slide Number Placeholder 3">
            <a:extLst>
              <a:ext uri="{FF2B5EF4-FFF2-40B4-BE49-F238E27FC236}">
                <a16:creationId xmlns:a16="http://schemas.microsoft.com/office/drawing/2014/main" id="{BBA29D2B-9A15-7568-F0DD-D00BD8DFBBD0}"/>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8</a:t>
            </a:fld>
            <a:endParaRPr lang="en-IN" dirty="0">
              <a:solidFill>
                <a:prstClr val="black">
                  <a:tint val="75000"/>
                </a:prstClr>
              </a:solidFill>
            </a:endParaRPr>
          </a:p>
        </p:txBody>
      </p:sp>
      <p:sp>
        <p:nvSpPr>
          <p:cNvPr id="6" name="Rectangle 2">
            <a:extLst>
              <a:ext uri="{FF2B5EF4-FFF2-40B4-BE49-F238E27FC236}">
                <a16:creationId xmlns:a16="http://schemas.microsoft.com/office/drawing/2014/main" id="{21AFDBD0-E1A8-10E7-2CB5-FAA903F5AEE9}"/>
              </a:ext>
            </a:extLst>
          </p:cNvPr>
          <p:cNvSpPr>
            <a:spLocks noChangeArrowheads="1"/>
          </p:cNvSpPr>
          <p:nvPr/>
        </p:nvSpPr>
        <p:spPr bwMode="auto">
          <a:xfrm>
            <a:off x="209797" y="3234013"/>
            <a:ext cx="11772406" cy="49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BA7A1556-5193-A8B2-F255-FD3E3B3F6883}"/>
              </a:ext>
            </a:extLst>
          </p:cNvPr>
          <p:cNvSpPr>
            <a:spLocks noChangeArrowheads="1"/>
          </p:cNvSpPr>
          <p:nvPr/>
        </p:nvSpPr>
        <p:spPr bwMode="auto">
          <a:xfrm>
            <a:off x="0" y="3057232"/>
            <a:ext cx="11877241" cy="49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7F4198A-6E1E-A4DB-2B3E-1019966CDFCA}"/>
              </a:ext>
            </a:extLst>
          </p:cNvPr>
          <p:cNvSpPr>
            <a:spLocks noChangeArrowheads="1"/>
          </p:cNvSpPr>
          <p:nvPr/>
        </p:nvSpPr>
        <p:spPr bwMode="auto">
          <a:xfrm>
            <a:off x="609599" y="1318294"/>
            <a:ext cx="109728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NAS is a dedicated file storage server that provides multiple clients on a network with file-level data access.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Think of it as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private cloud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your own home or office.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NAS vs. DAS (Direct-Attached Storage):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hard drive connected directly to a single computer (e.g., a USB drive). It's not easily shared.</a:t>
            </a:r>
          </a:p>
          <a:p>
            <a:pPr lvl="1" algn="just"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Connected to the network router, making it accessible to any authorized device on that network.</a:t>
            </a:r>
          </a:p>
          <a:p>
            <a:pPr lvl="1" algn="just" eaLnBrk="0" fontAlgn="base" hangingPunct="0">
              <a:spcBef>
                <a:spcPct val="0"/>
              </a:spcBef>
              <a:spcAft>
                <a:spcPct val="0"/>
              </a:spcAf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Core Function: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centralize data storage for easy sharing, backup, and remote access.</a:t>
            </a:r>
          </a:p>
        </p:txBody>
      </p:sp>
    </p:spTree>
    <p:extLst>
      <p:ext uri="{BB962C8B-B14F-4D97-AF65-F5344CB8AC3E}">
        <p14:creationId xmlns:p14="http://schemas.microsoft.com/office/powerpoint/2010/main" val="2137113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4068-CBF7-EFDA-60C1-7555CDA7736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3110858-8E1E-20BB-4C56-5C1989F8C5CF}"/>
              </a:ext>
            </a:extLst>
          </p:cNvPr>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61F030FC-6CF6-6A0B-5AFE-DF1F4808953C}"/>
              </a:ext>
            </a:extLst>
          </p:cNvPr>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E7F35AAA-354A-1213-61EC-CB45C7A5A7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a:extLst>
              <a:ext uri="{FF2B5EF4-FFF2-40B4-BE49-F238E27FC236}">
                <a16:creationId xmlns:a16="http://schemas.microsoft.com/office/drawing/2014/main" id="{C5549772-1F15-6625-B4DE-4B1963F9A9D2}"/>
              </a:ext>
            </a:extLst>
          </p:cNvPr>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chemeClr val="bg1"/>
                </a:solidFill>
                <a:latin typeface="Times New Roman" panose="02020603050405020304" pitchFamily="18" charset="0"/>
                <a:cs typeface="Times New Roman" panose="02020603050405020304" pitchFamily="18" charset="0"/>
              </a:rPr>
              <a:t>OBJECTIVES</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3E6317E6-810D-B135-E221-8626AC390282}"/>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9</a:t>
            </a:fld>
            <a:endParaRPr lang="en-IN" dirty="0">
              <a:solidFill>
                <a:prstClr val="black">
                  <a:tint val="75000"/>
                </a:prstClr>
              </a:solidFill>
            </a:endParaRPr>
          </a:p>
        </p:txBody>
      </p:sp>
      <p:sp>
        <p:nvSpPr>
          <p:cNvPr id="3" name="Rectangle 1">
            <a:extLst>
              <a:ext uri="{FF2B5EF4-FFF2-40B4-BE49-F238E27FC236}">
                <a16:creationId xmlns:a16="http://schemas.microsoft.com/office/drawing/2014/main" id="{998B336F-40E5-31AF-30DB-E85EAB1310AF}"/>
              </a:ext>
            </a:extLst>
          </p:cNvPr>
          <p:cNvSpPr>
            <a:spLocks noChangeArrowheads="1"/>
          </p:cNvSpPr>
          <p:nvPr/>
        </p:nvSpPr>
        <p:spPr bwMode="auto">
          <a:xfrm>
            <a:off x="530367" y="980628"/>
            <a:ext cx="11280634"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Scalable NAS: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Assemble a functional and stable NAS using a Raspberry Pi and external storage drives.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Core Services: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Deploy essential services for file storage (SMB/NFS), media streaming (Plex), and private cloud sync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Nextcloud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Docker.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Secure Remote Access: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 a reverse proxy with SSL certificates (HTTPS) to provide encrypted, secure access to services from outside the local network.</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Smart Automation &amp; Monitoring: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 system and data backups.</a:t>
            </a:r>
          </a:p>
          <a:p>
            <a:pPr lvl="1" algn="just"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a custom dashboard to monitor system health (CPU, RAM, storage, network).</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Deliver a Portfolio-Ready Project: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Thoroughly document the process, architecture, and outcomes.</a:t>
            </a:r>
          </a:p>
        </p:txBody>
      </p:sp>
    </p:spTree>
    <p:extLst>
      <p:ext uri="{BB962C8B-B14F-4D97-AF65-F5344CB8AC3E}">
        <p14:creationId xmlns:p14="http://schemas.microsoft.com/office/powerpoint/2010/main" val="3734816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solidFill>
                  <a:schemeClr val="bg1"/>
                </a:solidFill>
                <a:latin typeface="Cambria" panose="02040503050406030204" pitchFamily="18" charset="0"/>
              </a:rPr>
              <a:t>  </a:t>
            </a:r>
            <a:r>
              <a:rPr lang="en-IN" sz="2400" b="1" dirty="0">
                <a:solidFill>
                  <a:schemeClr val="bg1"/>
                </a:solidFill>
                <a:latin typeface="Times New Roman" panose="02020603050405020304" pitchFamily="18" charset="0"/>
                <a:cs typeface="Times New Roman" panose="02020603050405020304" pitchFamily="18" charset="0"/>
              </a:rPr>
              <a:t>LITERATURE SURVEY </a:t>
            </a:r>
            <a:endParaRPr lang="en-IN" sz="28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2E112E72-18F5-0C41-9331-5BC246109802}"/>
              </a:ext>
            </a:extLst>
          </p:cNvPr>
          <p:cNvGraphicFramePr>
            <a:graphicFrameLocks noGrp="1"/>
          </p:cNvGraphicFramePr>
          <p:nvPr>
            <p:extLst>
              <p:ext uri="{D42A27DB-BD31-4B8C-83A1-F6EECF244321}">
                <p14:modId xmlns:p14="http://schemas.microsoft.com/office/powerpoint/2010/main" val="2100130257"/>
              </p:ext>
            </p:extLst>
          </p:nvPr>
        </p:nvGraphicFramePr>
        <p:xfrm>
          <a:off x="0" y="464024"/>
          <a:ext cx="12188861" cy="6125107"/>
        </p:xfrm>
        <a:graphic>
          <a:graphicData uri="http://schemas.openxmlformats.org/drawingml/2006/table">
            <a:tbl>
              <a:tblPr firstRow="1" bandRow="1">
                <a:tableStyleId>{93296810-A885-4BE3-A3E7-6D5BEEA58F35}</a:tableStyleId>
              </a:tblPr>
              <a:tblGrid>
                <a:gridCol w="782127">
                  <a:extLst>
                    <a:ext uri="{9D8B030D-6E8A-4147-A177-3AD203B41FA5}">
                      <a16:colId xmlns:a16="http://schemas.microsoft.com/office/drawing/2014/main" val="920977943"/>
                    </a:ext>
                  </a:extLst>
                </a:gridCol>
                <a:gridCol w="1041423">
                  <a:extLst>
                    <a:ext uri="{9D8B030D-6E8A-4147-A177-3AD203B41FA5}">
                      <a16:colId xmlns:a16="http://schemas.microsoft.com/office/drawing/2014/main" val="3338276249"/>
                    </a:ext>
                  </a:extLst>
                </a:gridCol>
                <a:gridCol w="2419465">
                  <a:extLst>
                    <a:ext uri="{9D8B030D-6E8A-4147-A177-3AD203B41FA5}">
                      <a16:colId xmlns:a16="http://schemas.microsoft.com/office/drawing/2014/main" val="2707288050"/>
                    </a:ext>
                  </a:extLst>
                </a:gridCol>
                <a:gridCol w="2875453">
                  <a:extLst>
                    <a:ext uri="{9D8B030D-6E8A-4147-A177-3AD203B41FA5}">
                      <a16:colId xmlns:a16="http://schemas.microsoft.com/office/drawing/2014/main" val="3482874725"/>
                    </a:ext>
                  </a:extLst>
                </a:gridCol>
                <a:gridCol w="5070393">
                  <a:extLst>
                    <a:ext uri="{9D8B030D-6E8A-4147-A177-3AD203B41FA5}">
                      <a16:colId xmlns:a16="http://schemas.microsoft.com/office/drawing/2014/main" val="89247049"/>
                    </a:ext>
                  </a:extLst>
                </a:gridCol>
              </a:tblGrid>
              <a:tr h="728476">
                <a:tc>
                  <a:txBody>
                    <a:bodyPr/>
                    <a:lstStyle/>
                    <a:p>
                      <a:pPr algn="ctr"/>
                      <a:r>
                        <a:rPr lang="en-US" sz="2000" dirty="0">
                          <a:latin typeface="Times New Roman" panose="02020603050405020304" pitchFamily="18" charset="0"/>
                          <a:cs typeface="Times New Roman" panose="02020603050405020304" pitchFamily="18" charset="0"/>
                        </a:rPr>
                        <a:t>Sl no.</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Year </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Title</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Methodology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5084549"/>
                  </a:ext>
                </a:extLst>
              </a:tr>
              <a:tr h="2669266">
                <a:tc>
                  <a:txBody>
                    <a:bodyPr/>
                    <a:lstStyle/>
                    <a:p>
                      <a:pPr algn="ctr"/>
                      <a:r>
                        <a:rPr lang="en-US" sz="1800" dirty="0">
                          <a:latin typeface="Times New Roman" panose="02020603050405020304" pitchFamily="18" charset="0"/>
                          <a:cs typeface="Times New Roman" panose="02020603050405020304" pitchFamily="18" charset="0"/>
                        </a:rPr>
                        <a:t>1</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IN" sz="1800" dirty="0">
                          <a:latin typeface="Times New Roman" panose="02020603050405020304" pitchFamily="18" charset="0"/>
                          <a:cs typeface="Times New Roman" panose="02020603050405020304" pitchFamily="18" charset="0"/>
                        </a:rPr>
                        <a:t>1997</a:t>
                      </a:r>
                    </a:p>
                  </a:txBody>
                  <a:tcPr/>
                </a:tc>
                <a:tc>
                  <a:txBody>
                    <a:bodyPr/>
                    <a:lstStyle/>
                    <a:p>
                      <a:pPr algn="just"/>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Gibson, G. A., et al.</a:t>
                      </a:r>
                      <a:endParaRPr lang="en-IN" sz="1800" dirty="0">
                        <a:latin typeface="Times New Roman" panose="02020603050405020304" pitchFamily="18" charset="0"/>
                        <a:cs typeface="Times New Roman" panose="02020603050405020304" pitchFamily="18" charset="0"/>
                      </a:endParaRPr>
                    </a:p>
                  </a:txBody>
                  <a:tcPr/>
                </a:tc>
                <a:tc>
                  <a:txBody>
                    <a:bodyPr/>
                    <a:lstStyle/>
                    <a:p>
                      <a:pPr algn="l"/>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File server scaling with network-attached secure disks.</a:t>
                      </a:r>
                      <a:endParaRPr lang="en-IN" sz="1800" dirty="0">
                        <a:latin typeface="Times New Roman" panose="02020603050405020304" pitchFamily="18" charset="0"/>
                        <a:cs typeface="Times New Roman" panose="02020603050405020304" pitchFamily="18" charset="0"/>
                      </a:endParaRPr>
                    </a:p>
                  </a:txBody>
                  <a:tcPr/>
                </a:tc>
                <a:tc>
                  <a:txBody>
                    <a:bodyPr/>
                    <a:lstStyle/>
                    <a:p>
                      <a:pPr marL="285750" indent="-285750" algn="just">
                        <a:lnSpc>
                          <a:spcPct val="150000"/>
                        </a:lnSpc>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Proposed </a:t>
                      </a:r>
                      <a:r>
                        <a:rPr lang="en-US" b="1" i="0" dirty="0">
                          <a:latin typeface="Times New Roman" panose="02020603050405020304" pitchFamily="18" charset="0"/>
                          <a:cs typeface="Times New Roman" panose="02020603050405020304" pitchFamily="18" charset="0"/>
                        </a:rPr>
                        <a:t>Network-Attached Secure Disks</a:t>
                      </a:r>
                      <a:r>
                        <a:rPr lang="en-US" i="0" dirty="0">
                          <a:latin typeface="Times New Roman" panose="02020603050405020304" pitchFamily="18" charset="0"/>
                          <a:cs typeface="Times New Roman" panose="02020603050405020304" pitchFamily="18" charset="0"/>
                        </a:rPr>
                        <a:t> — each disk manages part of the work, reducing load on the main server.</a:t>
                      </a:r>
                    </a:p>
                    <a:p>
                      <a:pPr marL="285750" indent="-285750" algn="just">
                        <a:lnSpc>
                          <a:spcPct val="150000"/>
                        </a:lnSpc>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We use Docker containers and disk-level encryption for modular and secure storage.</a:t>
                      </a:r>
                      <a:endParaRPr lang="en-US" sz="18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14516104"/>
                  </a:ext>
                </a:extLst>
              </a:tr>
              <a:tr h="2727365">
                <a:tc>
                  <a:txBody>
                    <a:bodyPr/>
                    <a:lstStyle/>
                    <a:p>
                      <a:pPr algn="ctr"/>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IN" sz="1800" dirty="0">
                          <a:latin typeface="Times New Roman" panose="02020603050405020304" pitchFamily="18" charset="0"/>
                          <a:cs typeface="Times New Roman" panose="02020603050405020304" pitchFamily="18" charset="0"/>
                        </a:rPr>
                        <a:t> 1998</a:t>
                      </a:r>
                    </a:p>
                  </a:txBody>
                  <a:tcPr/>
                </a:tc>
                <a:tc>
                  <a:txBody>
                    <a:bodyPr/>
                    <a:lstStyle/>
                    <a:p>
                      <a:pPr algn="l"/>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Patterson, D. A., Gibson, G.A., &amp; Katz, R. H.</a:t>
                      </a:r>
                      <a:endParaRPr lang="en-IN" sz="1800" dirty="0">
                        <a:latin typeface="Times New Roman" panose="02020603050405020304" pitchFamily="18" charset="0"/>
                        <a:cs typeface="Times New Roman" panose="02020603050405020304" pitchFamily="18" charset="0"/>
                      </a:endParaRPr>
                    </a:p>
                  </a:txBody>
                  <a:tcPr/>
                </a:tc>
                <a:tc>
                  <a:txBody>
                    <a:bodyPr/>
                    <a:lstStyle/>
                    <a:p>
                      <a:pPr algn="l"/>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A case for redundant arrays of inexpensive disks (RAID).</a:t>
                      </a:r>
                      <a:endParaRPr lang="en-IN" sz="1800" dirty="0">
                        <a:latin typeface="Times New Roman" panose="02020603050405020304" pitchFamily="18" charset="0"/>
                        <a:cs typeface="Times New Roman" panose="02020603050405020304" pitchFamily="18" charset="0"/>
                      </a:endParaRPr>
                    </a:p>
                  </a:txBody>
                  <a:tcPr/>
                </a:tc>
                <a:tc>
                  <a:txBody>
                    <a:bodyPr/>
                    <a:lstStyle/>
                    <a:p>
                      <a:pPr marL="285750" indent="-285750" algn="just">
                        <a:lnSpc>
                          <a:spcPct val="150000"/>
                        </a:lnSpc>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Introduced </a:t>
                      </a:r>
                      <a:r>
                        <a:rPr lang="en-US" b="1" i="0" dirty="0">
                          <a:latin typeface="Times New Roman" panose="02020603050405020304" pitchFamily="18" charset="0"/>
                          <a:cs typeface="Times New Roman" panose="02020603050405020304" pitchFamily="18" charset="0"/>
                        </a:rPr>
                        <a:t>RAID (Redundant Array of Inexpensive Disks)</a:t>
                      </a:r>
                      <a:r>
                        <a:rPr lang="en-US" i="0" dirty="0">
                          <a:latin typeface="Times New Roman" panose="02020603050405020304" pitchFamily="18" charset="0"/>
                          <a:cs typeface="Times New Roman" panose="02020603050405020304" pitchFamily="18" charset="0"/>
                        </a:rPr>
                        <a:t> — combining multiple small drives to improve </a:t>
                      </a:r>
                      <a:r>
                        <a:rPr lang="en-US" b="1" i="0" dirty="0">
                          <a:latin typeface="Times New Roman" panose="02020603050405020304" pitchFamily="18" charset="0"/>
                          <a:cs typeface="Times New Roman" panose="02020603050405020304" pitchFamily="18" charset="0"/>
                        </a:rPr>
                        <a:t>speed and reliability</a:t>
                      </a:r>
                      <a:r>
                        <a:rPr lang="en-US" i="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We apply this by setting up RAID in our NAS for data backup and performance.</a:t>
                      </a:r>
                      <a:endParaRPr lang="en-IN" sz="18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14658062"/>
                  </a:ext>
                </a:extLst>
              </a:tr>
            </a:tbl>
          </a:graphicData>
        </a:graphic>
      </p:graphicFrame>
      <p:sp>
        <p:nvSpPr>
          <p:cNvPr id="3" name="Slide Number Placeholder 2">
            <a:extLst>
              <a:ext uri="{FF2B5EF4-FFF2-40B4-BE49-F238E27FC236}">
                <a16:creationId xmlns:a16="http://schemas.microsoft.com/office/drawing/2014/main" id="{4DDDF70D-DDC7-343E-B281-3F289B9DAE92}"/>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10</a:t>
            </a:fld>
            <a:endParaRPr lang="en-IN" dirty="0">
              <a:solidFill>
                <a:prstClr val="black">
                  <a:tint val="75000"/>
                </a:prstClr>
              </a:solidFill>
            </a:endParaRPr>
          </a:p>
        </p:txBody>
      </p:sp>
    </p:spTree>
    <p:extLst>
      <p:ext uri="{BB962C8B-B14F-4D97-AF65-F5344CB8AC3E}">
        <p14:creationId xmlns:p14="http://schemas.microsoft.com/office/powerpoint/2010/main" val="1019021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982A8-D258-D2F3-3551-C9ABA3A7DEB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87F792A-2B91-C858-D615-D3A583D4A295}"/>
              </a:ext>
            </a:extLst>
          </p:cNvPr>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6FC0455A-09AC-BE2D-69EC-31BCF425C6E1}"/>
              </a:ext>
            </a:extLst>
          </p:cNvPr>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89FD7739-A24D-0BB3-D71A-910E5FD695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a:extLst>
              <a:ext uri="{FF2B5EF4-FFF2-40B4-BE49-F238E27FC236}">
                <a16:creationId xmlns:a16="http://schemas.microsoft.com/office/drawing/2014/main" id="{8DBCA285-F9D6-6FF2-6829-3EFE8A587AF7}"/>
              </a:ext>
            </a:extLst>
          </p:cNvPr>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solidFill>
                  <a:schemeClr val="bg1"/>
                </a:solidFill>
                <a:latin typeface="Cambria" panose="02040503050406030204" pitchFamily="18" charset="0"/>
              </a:rPr>
              <a:t>  </a:t>
            </a:r>
            <a:r>
              <a:rPr lang="en-IN" sz="2400" b="1" dirty="0">
                <a:solidFill>
                  <a:schemeClr val="bg1"/>
                </a:solidFill>
                <a:latin typeface="Times New Roman" panose="02020603050405020304" pitchFamily="18" charset="0"/>
                <a:cs typeface="Times New Roman" panose="02020603050405020304" pitchFamily="18" charset="0"/>
              </a:rPr>
              <a:t>LITERATURE SURVEY </a:t>
            </a:r>
            <a:endParaRPr lang="en-IN" sz="28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F98D0951-D8A5-8C6A-CDDF-4D45B3844FE5}"/>
              </a:ext>
            </a:extLst>
          </p:cNvPr>
          <p:cNvGraphicFramePr>
            <a:graphicFrameLocks noGrp="1"/>
          </p:cNvGraphicFramePr>
          <p:nvPr>
            <p:extLst>
              <p:ext uri="{D42A27DB-BD31-4B8C-83A1-F6EECF244321}">
                <p14:modId xmlns:p14="http://schemas.microsoft.com/office/powerpoint/2010/main" val="2307442274"/>
              </p:ext>
            </p:extLst>
          </p:nvPr>
        </p:nvGraphicFramePr>
        <p:xfrm>
          <a:off x="0" y="464024"/>
          <a:ext cx="12192001" cy="6125106"/>
        </p:xfrm>
        <a:graphic>
          <a:graphicData uri="http://schemas.openxmlformats.org/drawingml/2006/table">
            <a:tbl>
              <a:tblPr firstRow="1" bandRow="1">
                <a:tableStyleId>{93296810-A885-4BE3-A3E7-6D5BEEA58F35}</a:tableStyleId>
              </a:tblPr>
              <a:tblGrid>
                <a:gridCol w="637491">
                  <a:extLst>
                    <a:ext uri="{9D8B030D-6E8A-4147-A177-3AD203B41FA5}">
                      <a16:colId xmlns:a16="http://schemas.microsoft.com/office/drawing/2014/main" val="920977943"/>
                    </a:ext>
                  </a:extLst>
                </a:gridCol>
                <a:gridCol w="1115606">
                  <a:extLst>
                    <a:ext uri="{9D8B030D-6E8A-4147-A177-3AD203B41FA5}">
                      <a16:colId xmlns:a16="http://schemas.microsoft.com/office/drawing/2014/main" val="3338276249"/>
                    </a:ext>
                  </a:extLst>
                </a:gridCol>
                <a:gridCol w="2413001">
                  <a:extLst>
                    <a:ext uri="{9D8B030D-6E8A-4147-A177-3AD203B41FA5}">
                      <a16:colId xmlns:a16="http://schemas.microsoft.com/office/drawing/2014/main" val="2707288050"/>
                    </a:ext>
                  </a:extLst>
                </a:gridCol>
                <a:gridCol w="2716804">
                  <a:extLst>
                    <a:ext uri="{9D8B030D-6E8A-4147-A177-3AD203B41FA5}">
                      <a16:colId xmlns:a16="http://schemas.microsoft.com/office/drawing/2014/main" val="3482874725"/>
                    </a:ext>
                  </a:extLst>
                </a:gridCol>
                <a:gridCol w="5309099">
                  <a:extLst>
                    <a:ext uri="{9D8B030D-6E8A-4147-A177-3AD203B41FA5}">
                      <a16:colId xmlns:a16="http://schemas.microsoft.com/office/drawing/2014/main" val="89247049"/>
                    </a:ext>
                  </a:extLst>
                </a:gridCol>
              </a:tblGrid>
              <a:tr h="874404">
                <a:tc>
                  <a:txBody>
                    <a:bodyPr/>
                    <a:lstStyle/>
                    <a:p>
                      <a:pPr algn="ctr"/>
                      <a:r>
                        <a:rPr lang="en-US" sz="2000" dirty="0">
                          <a:latin typeface="Times New Roman" panose="02020603050405020304" pitchFamily="18" charset="0"/>
                          <a:cs typeface="Times New Roman" panose="02020603050405020304" pitchFamily="18" charset="0"/>
                        </a:rPr>
                        <a:t>Sl no.</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Year </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Title</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Methodology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5084549"/>
                  </a:ext>
                </a:extLst>
              </a:tr>
              <a:tr h="2625351">
                <a:tc>
                  <a:txBody>
                    <a:bodyPr/>
                    <a:lstStyle/>
                    <a:p>
                      <a:pPr algn="ctr"/>
                      <a:r>
                        <a:rPr lang="en-US" sz="1800" dirty="0">
                          <a:latin typeface="Times New Roman" panose="02020603050405020304" pitchFamily="18" charset="0"/>
                          <a:cs typeface="Times New Roman" panose="02020603050405020304" pitchFamily="18" charset="0"/>
                        </a:rPr>
                        <a:t>3</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2007</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Van </a:t>
                      </a:r>
                      <a:r>
                        <a:rPr lang="en-IN" sz="1800" b="0" i="0" kern="1200" dirty="0" err="1">
                          <a:solidFill>
                            <a:schemeClr val="dk1"/>
                          </a:solidFill>
                          <a:effectLst/>
                          <a:latin typeface="Times New Roman" panose="02020603050405020304" pitchFamily="18" charset="0"/>
                          <a:ea typeface="+mn-ea"/>
                          <a:cs typeface="Times New Roman" panose="02020603050405020304" pitchFamily="18" charset="0"/>
                        </a:rPr>
                        <a:t>Hensbergen</a:t>
                      </a:r>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 E.</a:t>
                      </a:r>
                      <a:endParaRPr lang="en-IN" sz="1800" dirty="0">
                        <a:latin typeface="Times New Roman" panose="02020603050405020304" pitchFamily="18" charset="0"/>
                        <a:cs typeface="Times New Roman" panose="02020603050405020304" pitchFamily="18" charset="0"/>
                      </a:endParaRPr>
                    </a:p>
                  </a:txBody>
                  <a:tcPr/>
                </a:tc>
                <a:tc>
                  <a:txBody>
                    <a:bodyPr/>
                    <a:lstStyle/>
                    <a:p>
                      <a:pPr algn="l"/>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Deconstructing network attached storage.</a:t>
                      </a:r>
                      <a:endParaRPr lang="en-IN" sz="1800" dirty="0">
                        <a:latin typeface="Times New Roman" panose="02020603050405020304" pitchFamily="18" charset="0"/>
                        <a:cs typeface="Times New Roman" panose="02020603050405020304" pitchFamily="18" charset="0"/>
                      </a:endParaRPr>
                    </a:p>
                  </a:txBody>
                  <a:tcPr/>
                </a:tc>
                <a:tc>
                  <a:txBody>
                    <a:bodyPr/>
                    <a:lstStyle/>
                    <a:p>
                      <a:pPr marL="285750" indent="-285750" algn="just">
                        <a:lnSpc>
                          <a:spcPct val="150000"/>
                        </a:lnSpc>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Focused on </a:t>
                      </a:r>
                      <a:r>
                        <a:rPr lang="en-US" b="1" i="0" dirty="0">
                          <a:latin typeface="Times New Roman" panose="02020603050405020304" pitchFamily="18" charset="0"/>
                          <a:cs typeface="Times New Roman" panose="02020603050405020304" pitchFamily="18" charset="0"/>
                        </a:rPr>
                        <a:t>deconstructing NAS</a:t>
                      </a:r>
                      <a:r>
                        <a:rPr lang="en-US" i="0" dirty="0">
                          <a:latin typeface="Times New Roman" panose="02020603050405020304" pitchFamily="18" charset="0"/>
                          <a:cs typeface="Times New Roman" panose="02020603050405020304" pitchFamily="18" charset="0"/>
                        </a:rPr>
                        <a:t> — separating control logic from data flow to improve performance and scalability.</a:t>
                      </a:r>
                    </a:p>
                    <a:p>
                      <a:pPr marL="285750" indent="-285750" algn="just">
                        <a:lnSpc>
                          <a:spcPct val="150000"/>
                        </a:lnSpc>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We separate services like file management, media streaming, and monitoring using containers.</a:t>
                      </a:r>
                      <a:endParaRPr lang="en-US" sz="18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14516104"/>
                  </a:ext>
                </a:extLst>
              </a:tr>
              <a:tr h="2625351">
                <a:tc>
                  <a:txBody>
                    <a:bodyPr/>
                    <a:lstStyle/>
                    <a:p>
                      <a:pPr algn="ctr"/>
                      <a:r>
                        <a:rPr lang="en-IN" sz="1800" dirty="0">
                          <a:latin typeface="Times New Roman" panose="02020603050405020304" pitchFamily="18" charset="0"/>
                          <a:cs typeface="Times New Roman" panose="02020603050405020304" pitchFamily="18" charset="0"/>
                        </a:rPr>
                        <a:t>4</a:t>
                      </a:r>
                    </a:p>
                  </a:txBody>
                  <a:tcPr/>
                </a:tc>
                <a:tc>
                  <a:txBody>
                    <a:bodyPr/>
                    <a:lstStyle/>
                    <a:p>
                      <a:pPr algn="ctr"/>
                      <a:r>
                        <a:rPr lang="en-IN" sz="1800" dirty="0">
                          <a:latin typeface="Times New Roman" panose="02020603050405020304" pitchFamily="18" charset="0"/>
                          <a:cs typeface="Times New Roman" panose="02020603050405020304" pitchFamily="18" charset="0"/>
                        </a:rPr>
                        <a:t>2021</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Zhao Kai.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Research on Network Data Storage Technology Based on Autonomous </a:t>
                      </a:r>
                      <a:br>
                        <a:rPr lang="en-US" sz="1800" b="0" i="0" kern="1200" dirty="0">
                          <a:solidFill>
                            <a:schemeClr val="dk1"/>
                          </a:solidFill>
                          <a:effectLst/>
                          <a:latin typeface="Times New Roman" panose="02020603050405020304" pitchFamily="18" charset="0"/>
                          <a:ea typeface="+mn-ea"/>
                          <a:cs typeface="Times New Roman" panose="02020603050405020304" pitchFamily="18" charset="0"/>
                        </a:rPr>
                      </a:b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Controllable System.</a:t>
                      </a:r>
                    </a:p>
                    <a:p>
                      <a:pPr algn="just"/>
                      <a:endParaRPr lang="en-IN" sz="1800" dirty="0">
                        <a:latin typeface="Times New Roman" panose="02020603050405020304" pitchFamily="18" charset="0"/>
                        <a:cs typeface="Times New Roman" panose="02020603050405020304" pitchFamily="18" charset="0"/>
                      </a:endParaRPr>
                    </a:p>
                  </a:txBody>
                  <a:tcPr/>
                </a:tc>
                <a:tc>
                  <a:txBody>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Suggested an </a:t>
                      </a:r>
                      <a:r>
                        <a:rPr lang="en-US" b="1" dirty="0">
                          <a:latin typeface="Times New Roman" panose="02020603050405020304" pitchFamily="18" charset="0"/>
                          <a:cs typeface="Times New Roman" panose="02020603050405020304" pitchFamily="18" charset="0"/>
                        </a:rPr>
                        <a:t>autonomous and controllable NAS --</a:t>
                      </a:r>
                      <a:r>
                        <a:rPr lang="en-US" dirty="0">
                          <a:latin typeface="Times New Roman" panose="02020603050405020304" pitchFamily="18" charset="0"/>
                          <a:cs typeface="Times New Roman" panose="02020603050405020304" pitchFamily="18" charset="0"/>
                        </a:rPr>
                        <a:t> emphasizing self-managed, secure, and scalable systems.</a:t>
                      </a:r>
                    </a:p>
                    <a:p>
                      <a:pPr marL="285750" indent="-285750" algn="just">
                        <a:lnSpc>
                          <a:spcPct val="150000"/>
                        </a:lnSpc>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We adopt this by adding SSL, user authentication, and monitoring dashboards.</a:t>
                      </a:r>
                      <a:endParaRPr lang="en-US" sz="18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41937180"/>
                  </a:ext>
                </a:extLst>
              </a:tr>
            </a:tbl>
          </a:graphicData>
        </a:graphic>
      </p:graphicFrame>
      <p:sp>
        <p:nvSpPr>
          <p:cNvPr id="3" name="Slide Number Placeholder 2">
            <a:extLst>
              <a:ext uri="{FF2B5EF4-FFF2-40B4-BE49-F238E27FC236}">
                <a16:creationId xmlns:a16="http://schemas.microsoft.com/office/drawing/2014/main" id="{AF98CC8B-7E61-8C29-1398-D022DEC43BD1}"/>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11</a:t>
            </a:fld>
            <a:endParaRPr lang="en-IN" dirty="0">
              <a:solidFill>
                <a:prstClr val="black">
                  <a:tint val="75000"/>
                </a:prstClr>
              </a:solidFill>
            </a:endParaRPr>
          </a:p>
        </p:txBody>
      </p:sp>
    </p:spTree>
    <p:extLst>
      <p:ext uri="{BB962C8B-B14F-4D97-AF65-F5344CB8AC3E}">
        <p14:creationId xmlns:p14="http://schemas.microsoft.com/office/powerpoint/2010/main" val="2285127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chemeClr val="bg1"/>
                </a:solidFill>
                <a:latin typeface="Times New Roman" panose="02020603050405020304" pitchFamily="18" charset="0"/>
                <a:cs typeface="Times New Roman" panose="02020603050405020304" pitchFamily="18" charset="0"/>
              </a:rPr>
              <a:t>RESEARCH GAPS</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807038CC-CC9F-263F-9974-D3A73A181FE1}"/>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12</a:t>
            </a:fld>
            <a:endParaRPr lang="en-IN" dirty="0">
              <a:solidFill>
                <a:prstClr val="black">
                  <a:tint val="75000"/>
                </a:prstClr>
              </a:solidFill>
            </a:endParaRPr>
          </a:p>
        </p:txBody>
      </p:sp>
      <p:sp>
        <p:nvSpPr>
          <p:cNvPr id="4" name="Rectangle 3">
            <a:extLst>
              <a:ext uri="{FF2B5EF4-FFF2-40B4-BE49-F238E27FC236}">
                <a16:creationId xmlns:a16="http://schemas.microsoft.com/office/drawing/2014/main" id="{FE3AD6D5-35EC-6600-3224-7E5A1DF2DEA7}"/>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a:extLst>
              <a:ext uri="{FF2B5EF4-FFF2-40B4-BE49-F238E27FC236}">
                <a16:creationId xmlns:a16="http://schemas.microsoft.com/office/drawing/2014/main" id="{863B4366-B6CA-43F4-29A1-2CB015F7DB1B}"/>
              </a:ext>
            </a:extLst>
          </p:cNvPr>
          <p:cNvSpPr>
            <a:spLocks noChangeArrowheads="1"/>
          </p:cNvSpPr>
          <p:nvPr/>
        </p:nvSpPr>
        <p:spPr bwMode="auto">
          <a:xfrm>
            <a:off x="876299" y="1240753"/>
            <a:ext cx="10439400"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on the survey, we identified several gaps, particularly in the DIY home-user space: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Integrated Automation: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Backup and sync tasks often require complex, manual scripting.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Monitoring and Analytics: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basic setups lack a centralized dashboard to monitor system health, performance, and security.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Insecure Remote Access: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tutorials propose simple port forwarding, which is a significant security risk.</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Our Project Fills These Gaps: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algn="just"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integrating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containerized architecture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tools for secure remote access (reverse proxy), automated backups, and unified monitoring (Grafana).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9021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74A71-68A5-8328-6666-D182559BF2C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1B86792-6962-5CF2-AD48-5F8D00CE6C20}"/>
              </a:ext>
            </a:extLst>
          </p:cNvPr>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4F6B8C72-F738-C1B6-7945-5ED46D700B6E}"/>
              </a:ext>
            </a:extLst>
          </p:cNvPr>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3B5BBEBB-3957-551A-81C5-AB31BBF92F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a:extLst>
              <a:ext uri="{FF2B5EF4-FFF2-40B4-BE49-F238E27FC236}">
                <a16:creationId xmlns:a16="http://schemas.microsoft.com/office/drawing/2014/main" id="{A0B6FF4A-2B6E-6197-57EB-48C0BDB5C3AD}"/>
              </a:ext>
            </a:extLst>
          </p:cNvPr>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chemeClr val="bg1"/>
                </a:solidFill>
                <a:latin typeface="Times New Roman" panose="02020603050405020304" pitchFamily="18" charset="0"/>
                <a:cs typeface="Times New Roman" panose="02020603050405020304" pitchFamily="18" charset="0"/>
              </a:rPr>
              <a:t>METHODOLOGY ADOPTED</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4E2AD839-00B2-75DC-E687-27A23BE4C2CC}"/>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13</a:t>
            </a:fld>
            <a:endParaRPr lang="en-IN" dirty="0">
              <a:solidFill>
                <a:prstClr val="black">
                  <a:tint val="75000"/>
                </a:prstClr>
              </a:solidFill>
            </a:endParaRPr>
          </a:p>
        </p:txBody>
      </p:sp>
      <p:sp>
        <p:nvSpPr>
          <p:cNvPr id="3" name="Flowchart: Alternate Process 2">
            <a:extLst>
              <a:ext uri="{FF2B5EF4-FFF2-40B4-BE49-F238E27FC236}">
                <a16:creationId xmlns:a16="http://schemas.microsoft.com/office/drawing/2014/main" id="{0080FB82-AE4B-0D86-9740-E79E628E01FA}"/>
              </a:ext>
            </a:extLst>
          </p:cNvPr>
          <p:cNvSpPr/>
          <p:nvPr/>
        </p:nvSpPr>
        <p:spPr>
          <a:xfrm>
            <a:off x="609600" y="1370145"/>
            <a:ext cx="1371600" cy="1066800"/>
          </a:xfrm>
          <a:prstGeom prst="flowChartAlternateProcess">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Power Cell</a:t>
            </a:r>
            <a:endParaRPr lang="en-IN" dirty="0">
              <a:latin typeface="Times New Roman" panose="02020603050405020304" pitchFamily="18" charset="0"/>
              <a:cs typeface="Times New Roman" panose="02020603050405020304" pitchFamily="18" charset="0"/>
            </a:endParaRPr>
          </a:p>
        </p:txBody>
      </p:sp>
      <p:sp>
        <p:nvSpPr>
          <p:cNvPr id="4" name="Flowchart: Alternate Process 3">
            <a:extLst>
              <a:ext uri="{FF2B5EF4-FFF2-40B4-BE49-F238E27FC236}">
                <a16:creationId xmlns:a16="http://schemas.microsoft.com/office/drawing/2014/main" id="{B72D8A49-1A28-FE8A-FE51-AA4D2054632E}"/>
              </a:ext>
            </a:extLst>
          </p:cNvPr>
          <p:cNvSpPr/>
          <p:nvPr/>
        </p:nvSpPr>
        <p:spPr>
          <a:xfrm>
            <a:off x="4713778" y="621164"/>
            <a:ext cx="1371599" cy="1066800"/>
          </a:xfrm>
          <a:prstGeom prst="flowChartAlternateProcess">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Load Cell Transmitter</a:t>
            </a:r>
            <a:endParaRPr lang="en-IN" dirty="0">
              <a:latin typeface="Times New Roman" panose="02020603050405020304" pitchFamily="18" charset="0"/>
              <a:cs typeface="Times New Roman" panose="02020603050405020304" pitchFamily="18" charset="0"/>
            </a:endParaRPr>
          </a:p>
        </p:txBody>
      </p:sp>
      <p:sp>
        <p:nvSpPr>
          <p:cNvPr id="5" name="Flowchart: Alternate Process 4">
            <a:extLst>
              <a:ext uri="{FF2B5EF4-FFF2-40B4-BE49-F238E27FC236}">
                <a16:creationId xmlns:a16="http://schemas.microsoft.com/office/drawing/2014/main" id="{E2782475-4EE7-B70D-A373-600B171223C4}"/>
              </a:ext>
            </a:extLst>
          </p:cNvPr>
          <p:cNvSpPr/>
          <p:nvPr/>
        </p:nvSpPr>
        <p:spPr>
          <a:xfrm>
            <a:off x="4725366" y="2221364"/>
            <a:ext cx="1371599" cy="1066800"/>
          </a:xfrm>
          <a:prstGeom prst="flowChartAlternateProcess">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Raspberry-pi</a:t>
            </a:r>
            <a:endParaRPr lang="en-IN" dirty="0">
              <a:latin typeface="Times New Roman" panose="02020603050405020304" pitchFamily="18" charset="0"/>
              <a:cs typeface="Times New Roman" panose="02020603050405020304" pitchFamily="18" charset="0"/>
            </a:endParaRPr>
          </a:p>
        </p:txBody>
      </p:sp>
      <p:sp>
        <p:nvSpPr>
          <p:cNvPr id="6" name="Flowchart: Alternate Process 5">
            <a:extLst>
              <a:ext uri="{FF2B5EF4-FFF2-40B4-BE49-F238E27FC236}">
                <a16:creationId xmlns:a16="http://schemas.microsoft.com/office/drawing/2014/main" id="{3B023D2F-221B-DAEB-7921-ABF7209CED08}"/>
              </a:ext>
            </a:extLst>
          </p:cNvPr>
          <p:cNvSpPr/>
          <p:nvPr/>
        </p:nvSpPr>
        <p:spPr>
          <a:xfrm>
            <a:off x="4719572" y="3864890"/>
            <a:ext cx="1365805" cy="1066800"/>
          </a:xfrm>
          <a:prstGeom prst="flowChartAlternateProcess">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Filling Module</a:t>
            </a:r>
            <a:endParaRPr lang="en-IN" dirty="0">
              <a:latin typeface="Times New Roman" panose="02020603050405020304" pitchFamily="18" charset="0"/>
              <a:cs typeface="Times New Roman" panose="02020603050405020304" pitchFamily="18" charset="0"/>
            </a:endParaRPr>
          </a:p>
        </p:txBody>
      </p:sp>
      <p:sp>
        <p:nvSpPr>
          <p:cNvPr id="13" name="Flowchart: Alternate Process 12">
            <a:extLst>
              <a:ext uri="{FF2B5EF4-FFF2-40B4-BE49-F238E27FC236}">
                <a16:creationId xmlns:a16="http://schemas.microsoft.com/office/drawing/2014/main" id="{BF61E117-63C0-B057-D405-C04ADAD63D78}"/>
              </a:ext>
            </a:extLst>
          </p:cNvPr>
          <p:cNvSpPr/>
          <p:nvPr/>
        </p:nvSpPr>
        <p:spPr>
          <a:xfrm>
            <a:off x="4719572" y="5508417"/>
            <a:ext cx="1371599" cy="1066800"/>
          </a:xfrm>
          <a:prstGeom prst="flowChartAlternateProcess">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Indicator (light)</a:t>
            </a:r>
            <a:endParaRPr lang="en-IN" dirty="0">
              <a:latin typeface="Times New Roman" panose="02020603050405020304" pitchFamily="18" charset="0"/>
              <a:cs typeface="Times New Roman" panose="02020603050405020304" pitchFamily="18" charset="0"/>
            </a:endParaRPr>
          </a:p>
        </p:txBody>
      </p:sp>
      <p:sp>
        <p:nvSpPr>
          <p:cNvPr id="14" name="Flowchart: Alternate Process 13">
            <a:extLst>
              <a:ext uri="{FF2B5EF4-FFF2-40B4-BE49-F238E27FC236}">
                <a16:creationId xmlns:a16="http://schemas.microsoft.com/office/drawing/2014/main" id="{D88EAB34-4559-7B29-67E4-827480188D47}"/>
              </a:ext>
            </a:extLst>
          </p:cNvPr>
          <p:cNvSpPr/>
          <p:nvPr/>
        </p:nvSpPr>
        <p:spPr>
          <a:xfrm>
            <a:off x="8576476" y="621164"/>
            <a:ext cx="1371599" cy="1066800"/>
          </a:xfrm>
          <a:prstGeom prst="flowChartAlternateProcess">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Load Cell</a:t>
            </a:r>
            <a:endParaRPr lang="en-IN" dirty="0">
              <a:latin typeface="Times New Roman" panose="02020603050405020304" pitchFamily="18" charset="0"/>
              <a:cs typeface="Times New Roman" panose="02020603050405020304" pitchFamily="18" charset="0"/>
            </a:endParaRPr>
          </a:p>
        </p:txBody>
      </p:sp>
      <p:cxnSp>
        <p:nvCxnSpPr>
          <p:cNvPr id="18" name="Connector: Elbow 17">
            <a:extLst>
              <a:ext uri="{FF2B5EF4-FFF2-40B4-BE49-F238E27FC236}">
                <a16:creationId xmlns:a16="http://schemas.microsoft.com/office/drawing/2014/main" id="{AC89A374-F62E-F21D-E8B0-39B75177466A}"/>
              </a:ext>
            </a:extLst>
          </p:cNvPr>
          <p:cNvCxnSpPr>
            <a:cxnSpLocks/>
            <a:stCxn id="3" idx="3"/>
            <a:endCxn id="4" idx="1"/>
          </p:cNvCxnSpPr>
          <p:nvPr/>
        </p:nvCxnSpPr>
        <p:spPr>
          <a:xfrm flipV="1">
            <a:off x="1981200" y="1154564"/>
            <a:ext cx="2732578" cy="748981"/>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65F4A861-018A-765A-D6BE-5371B047DE24}"/>
              </a:ext>
            </a:extLst>
          </p:cNvPr>
          <p:cNvCxnSpPr>
            <a:cxnSpLocks/>
            <a:endCxn id="5" idx="1"/>
          </p:cNvCxnSpPr>
          <p:nvPr/>
        </p:nvCxnSpPr>
        <p:spPr>
          <a:xfrm>
            <a:off x="3352800" y="1903545"/>
            <a:ext cx="1372566" cy="851219"/>
          </a:xfrm>
          <a:prstGeom prst="bentConnector3">
            <a:avLst>
              <a:gd name="adj1" fmla="val -144"/>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985F334-7D82-F0EE-6953-CFA90675FF47}"/>
              </a:ext>
            </a:extLst>
          </p:cNvPr>
          <p:cNvCxnSpPr>
            <a:cxnSpLocks/>
            <a:stCxn id="5" idx="2"/>
            <a:endCxn id="6" idx="0"/>
          </p:cNvCxnSpPr>
          <p:nvPr/>
        </p:nvCxnSpPr>
        <p:spPr>
          <a:xfrm flipH="1">
            <a:off x="5402475" y="3288164"/>
            <a:ext cx="8691" cy="57672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E806125-0E4F-72C7-3EF6-F9457E2CD89F}"/>
              </a:ext>
            </a:extLst>
          </p:cNvPr>
          <p:cNvCxnSpPr>
            <a:cxnSpLocks/>
          </p:cNvCxnSpPr>
          <p:nvPr/>
        </p:nvCxnSpPr>
        <p:spPr>
          <a:xfrm flipH="1">
            <a:off x="5408487" y="4975016"/>
            <a:ext cx="8691" cy="57672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7144F68-1533-8659-6FEF-DC16A5E62778}"/>
              </a:ext>
            </a:extLst>
          </p:cNvPr>
          <p:cNvCxnSpPr>
            <a:cxnSpLocks/>
            <a:stCxn id="4" idx="3"/>
            <a:endCxn id="14" idx="1"/>
          </p:cNvCxnSpPr>
          <p:nvPr/>
        </p:nvCxnSpPr>
        <p:spPr>
          <a:xfrm>
            <a:off x="6085377" y="1154564"/>
            <a:ext cx="2491099"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9970953-6D12-74B2-A5E8-AAB145204BD8}"/>
              </a:ext>
            </a:extLst>
          </p:cNvPr>
          <p:cNvCxnSpPr>
            <a:stCxn id="4" idx="2"/>
            <a:endCxn id="5" idx="0"/>
          </p:cNvCxnSpPr>
          <p:nvPr/>
        </p:nvCxnSpPr>
        <p:spPr>
          <a:xfrm>
            <a:off x="5399578" y="1687964"/>
            <a:ext cx="11588" cy="53340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DA0D2A7-9CD8-CC06-F046-65BD0E645B24}"/>
              </a:ext>
            </a:extLst>
          </p:cNvPr>
          <p:cNvSpPr txBox="1"/>
          <p:nvPr/>
        </p:nvSpPr>
        <p:spPr>
          <a:xfrm>
            <a:off x="5407655" y="1786370"/>
            <a:ext cx="247951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Modbus Communication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2132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24F9A-4927-A364-FAFB-08C98A75E11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7DFB38E-4603-38D9-A64A-12B02656AD54}"/>
              </a:ext>
            </a:extLst>
          </p:cNvPr>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C1EF687F-8F51-EA25-4A25-CA7F9AED3BB8}"/>
              </a:ext>
            </a:extLst>
          </p:cNvPr>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56D6842B-49D4-6B1A-7438-FDADD44656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a:extLst>
              <a:ext uri="{FF2B5EF4-FFF2-40B4-BE49-F238E27FC236}">
                <a16:creationId xmlns:a16="http://schemas.microsoft.com/office/drawing/2014/main" id="{24517DA4-D820-61FB-F22D-9BC2273632F0}"/>
              </a:ext>
            </a:extLst>
          </p:cNvPr>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chemeClr val="bg1"/>
                </a:solidFill>
                <a:latin typeface="Times New Roman" panose="02020603050405020304" pitchFamily="18" charset="0"/>
                <a:cs typeface="Times New Roman" panose="02020603050405020304" pitchFamily="18" charset="0"/>
              </a:rPr>
              <a:t>COMPONENTS &amp; ARCHITECTURE</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0D95D2A3-0E26-5383-0878-2D27A5841AD1}"/>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14</a:t>
            </a:fld>
            <a:endParaRPr lang="en-IN" dirty="0">
              <a:solidFill>
                <a:prstClr val="black">
                  <a:tint val="75000"/>
                </a:prstClr>
              </a:solidFill>
            </a:endParaRPr>
          </a:p>
        </p:txBody>
      </p:sp>
      <p:sp>
        <p:nvSpPr>
          <p:cNvPr id="3" name="TextBox 2">
            <a:extLst>
              <a:ext uri="{FF2B5EF4-FFF2-40B4-BE49-F238E27FC236}">
                <a16:creationId xmlns:a16="http://schemas.microsoft.com/office/drawing/2014/main" id="{966D6D98-DA3D-18DE-8357-4F522A4A541F}"/>
              </a:ext>
            </a:extLst>
          </p:cNvPr>
          <p:cNvSpPr txBox="1"/>
          <p:nvPr/>
        </p:nvSpPr>
        <p:spPr>
          <a:xfrm>
            <a:off x="362196" y="815236"/>
            <a:ext cx="11829803" cy="5143972"/>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Hardware Components :</a:t>
            </a:r>
          </a:p>
          <a:p>
            <a:pPr marL="800100" lvl="1" indent="-34290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Raspberry Pi</a:t>
            </a:r>
            <a:r>
              <a:rPr lang="en-IN" dirty="0">
                <a:latin typeface="Times New Roman" panose="02020603050405020304" pitchFamily="18" charset="0"/>
                <a:cs typeface="Times New Roman" panose="02020603050405020304" pitchFamily="18" charset="0"/>
              </a:rPr>
              <a:t> – Acts as the main compute unit for the NAS.</a:t>
            </a:r>
          </a:p>
          <a:p>
            <a:pPr marL="800100" lvl="1" indent="-34290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External Storage (SSD/HDD)</a:t>
            </a:r>
            <a:r>
              <a:rPr lang="en-IN" dirty="0">
                <a:latin typeface="Times New Roman" panose="02020603050405020304" pitchFamily="18" charset="0"/>
                <a:cs typeface="Times New Roman" panose="02020603050405020304" pitchFamily="18" charset="0"/>
              </a:rPr>
              <a:t> – Provides large-capacity data storage.</a:t>
            </a:r>
          </a:p>
          <a:p>
            <a:pPr marL="800100" lvl="1" indent="-34290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Network Interface (Ethernet Port / Router)</a:t>
            </a:r>
            <a:r>
              <a:rPr lang="en-IN" dirty="0">
                <a:latin typeface="Times New Roman" panose="02020603050405020304" pitchFamily="18" charset="0"/>
                <a:cs typeface="Times New Roman" panose="02020603050405020304" pitchFamily="18" charset="0"/>
              </a:rPr>
              <a:t> – Enables fast LAN connectivity and file transfer.</a:t>
            </a:r>
          </a:p>
          <a:p>
            <a:pPr algn="just">
              <a:lnSpc>
                <a:spcPct val="150000"/>
              </a:lnSpc>
            </a:pPr>
            <a:endParaRPr lang="en-IN" sz="500"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Software Components :</a:t>
            </a:r>
          </a:p>
          <a:p>
            <a:pPr marL="742950" lvl="1" indent="-285750" algn="just">
              <a:lnSpc>
                <a:spcPct val="150000"/>
              </a:lnSpc>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OpenMediaVault</a:t>
            </a:r>
            <a:r>
              <a:rPr lang="en-IN" b="1" dirty="0">
                <a:latin typeface="Times New Roman" panose="02020603050405020304" pitchFamily="18" charset="0"/>
                <a:cs typeface="Times New Roman" panose="02020603050405020304" pitchFamily="18" charset="0"/>
              </a:rPr>
              <a:t> (OMV)</a:t>
            </a:r>
            <a:r>
              <a:rPr lang="en-IN" dirty="0">
                <a:latin typeface="Times New Roman" panose="02020603050405020304" pitchFamily="18" charset="0"/>
                <a:cs typeface="Times New Roman" panose="02020603050405020304" pitchFamily="18" charset="0"/>
              </a:rPr>
              <a:t> – Manages disks, shared folders, and RAID configuration.</a:t>
            </a:r>
          </a:p>
          <a:p>
            <a:pPr marL="742950" lvl="1"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Docker Engine</a:t>
            </a:r>
            <a:r>
              <a:rPr lang="en-IN" dirty="0">
                <a:latin typeface="Times New Roman" panose="02020603050405020304" pitchFamily="18" charset="0"/>
                <a:cs typeface="Times New Roman" panose="02020603050405020304" pitchFamily="18" charset="0"/>
              </a:rPr>
              <a:t> – Hosts all NAS applications in isolated containers.</a:t>
            </a:r>
          </a:p>
          <a:p>
            <a:pPr marL="742950" lvl="1" indent="-285750" algn="just">
              <a:lnSpc>
                <a:spcPct val="150000"/>
              </a:lnSpc>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Nextcloud</a:t>
            </a:r>
            <a:r>
              <a:rPr lang="en-IN" dirty="0">
                <a:latin typeface="Times New Roman" panose="02020603050405020304" pitchFamily="18" charset="0"/>
                <a:cs typeface="Times New Roman" panose="02020603050405020304" pitchFamily="18" charset="0"/>
              </a:rPr>
              <a:t> – Provides private cloud file sync and sharing.</a:t>
            </a:r>
          </a:p>
          <a:p>
            <a:pPr marL="742950" lvl="1"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NGINX / Proxy Manager</a:t>
            </a:r>
            <a:r>
              <a:rPr lang="en-IN" dirty="0">
                <a:latin typeface="Times New Roman" panose="02020603050405020304" pitchFamily="18" charset="0"/>
                <a:cs typeface="Times New Roman" panose="02020603050405020304" pitchFamily="18" charset="0"/>
              </a:rPr>
              <a:t> – Manages HTTPS routing and secure remote access.</a:t>
            </a:r>
          </a:p>
          <a:p>
            <a:pPr marL="742950" lvl="1"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Prometheus + Grafana</a:t>
            </a:r>
            <a:r>
              <a:rPr lang="en-IN" dirty="0">
                <a:latin typeface="Times New Roman" panose="02020603050405020304" pitchFamily="18" charset="0"/>
                <a:cs typeface="Times New Roman" panose="02020603050405020304" pitchFamily="18" charset="0"/>
              </a:rPr>
              <a:t> – Collects and visualizes performance metrics.</a:t>
            </a:r>
          </a:p>
          <a:p>
            <a:pPr marL="742950" lvl="1"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Backup System (Borg/</a:t>
            </a:r>
            <a:r>
              <a:rPr lang="en-IN" b="1" dirty="0" err="1">
                <a:latin typeface="Times New Roman" panose="02020603050405020304" pitchFamily="18" charset="0"/>
                <a:cs typeface="Times New Roman" panose="02020603050405020304" pitchFamily="18" charset="0"/>
              </a:rPr>
              <a:t>Restic</a:t>
            </a:r>
            <a:r>
              <a:rPr lang="en-IN" b="1" dirty="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rclone</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 Automates local and cloud backups.</a:t>
            </a:r>
          </a:p>
          <a:p>
            <a:pPr marL="742950" lvl="1"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VPN / Authentication (</a:t>
            </a:r>
            <a:r>
              <a:rPr lang="en-IN" b="1" dirty="0" err="1">
                <a:latin typeface="Times New Roman" panose="02020603050405020304" pitchFamily="18" charset="0"/>
                <a:cs typeface="Times New Roman" panose="02020603050405020304" pitchFamily="18" charset="0"/>
              </a:rPr>
              <a:t>WireGuard</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Authelia</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 Secures user access and network communication.</a:t>
            </a:r>
          </a:p>
        </p:txBody>
      </p:sp>
    </p:spTree>
    <p:extLst>
      <p:ext uri="{BB962C8B-B14F-4D97-AF65-F5344CB8AC3E}">
        <p14:creationId xmlns:p14="http://schemas.microsoft.com/office/powerpoint/2010/main" val="3284359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8AA77-A339-0EEC-F607-BBB03DCD21E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ED1ACB2-23E9-E12B-323B-355F07B37877}"/>
              </a:ext>
            </a:extLst>
          </p:cNvPr>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65A106F8-6E09-9705-7D85-BEC920CD391D}"/>
              </a:ext>
            </a:extLst>
          </p:cNvPr>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C0E8BE6C-2ACA-ACB6-6A86-3C658CB3C0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a:extLst>
              <a:ext uri="{FF2B5EF4-FFF2-40B4-BE49-F238E27FC236}">
                <a16:creationId xmlns:a16="http://schemas.microsoft.com/office/drawing/2014/main" id="{94D500E5-71A3-CB8B-909E-B37C31D2A068}"/>
              </a:ext>
            </a:extLst>
          </p:cNvPr>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chemeClr val="bg1"/>
                </a:solidFill>
                <a:latin typeface="Times New Roman" panose="02020603050405020304" pitchFamily="18" charset="0"/>
                <a:cs typeface="Times New Roman" panose="02020603050405020304" pitchFamily="18" charset="0"/>
              </a:rPr>
              <a:t>PROGRESS SO FAR</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E4E635D7-A895-4D88-4ADC-FF8A9C3C5F7D}"/>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15</a:t>
            </a:fld>
            <a:endParaRPr lang="en-IN" dirty="0">
              <a:solidFill>
                <a:prstClr val="black">
                  <a:tint val="75000"/>
                </a:prstClr>
              </a:solidFill>
            </a:endParaRPr>
          </a:p>
        </p:txBody>
      </p:sp>
      <p:sp>
        <p:nvSpPr>
          <p:cNvPr id="3" name="TextBox 2">
            <a:extLst>
              <a:ext uri="{FF2B5EF4-FFF2-40B4-BE49-F238E27FC236}">
                <a16:creationId xmlns:a16="http://schemas.microsoft.com/office/drawing/2014/main" id="{93D17F96-DCE9-E733-1314-7351DFFB5480}"/>
              </a:ext>
            </a:extLst>
          </p:cNvPr>
          <p:cNvSpPr txBox="1"/>
          <p:nvPr/>
        </p:nvSpPr>
        <p:spPr>
          <a:xfrm>
            <a:off x="609600" y="914401"/>
            <a:ext cx="10668000" cy="326865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Installed </a:t>
            </a:r>
            <a:r>
              <a:rPr lang="en-IN" sz="2000" b="0" i="0" dirty="0" err="1">
                <a:effectLst/>
                <a:latin typeface="Times New Roman" panose="02020603050405020304" pitchFamily="18" charset="0"/>
                <a:cs typeface="Times New Roman" panose="02020603050405020304" pitchFamily="18" charset="0"/>
              </a:rPr>
              <a:t>OpenMediaVault</a:t>
            </a:r>
            <a:r>
              <a:rPr lang="en-IN" sz="2000" b="0" i="0" dirty="0">
                <a:effectLst/>
                <a:latin typeface="Times New Roman" panose="02020603050405020304" pitchFamily="18" charset="0"/>
                <a:cs typeface="Times New Roman" panose="02020603050405020304" pitchFamily="18" charset="0"/>
              </a:rPr>
              <a:t> (OMV) on Raspberry Pi</a:t>
            </a:r>
          </a:p>
          <a:p>
            <a:pPr marL="342900" indent="-342900">
              <a:lnSpc>
                <a:spcPct val="150000"/>
              </a:lnSpc>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Deployed Plex Media Server for media streaming</a:t>
            </a:r>
          </a:p>
          <a:p>
            <a:pPr marL="342900" indent="-342900">
              <a:lnSpc>
                <a:spcPct val="150000"/>
              </a:lnSpc>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Hosted NAS on Local Area Network (LAN), accessible to all devices</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Verified multi-user access over SMB and NFS</a:t>
            </a:r>
          </a:p>
          <a:p>
            <a:pPr marL="342900" indent="-342900">
              <a:lnSpc>
                <a:spcPct val="150000"/>
              </a:lnSpc>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Configured file sharing protocols:</a:t>
            </a:r>
          </a:p>
          <a:p>
            <a:pPr marL="800100" lvl="1" indent="-342900">
              <a:lnSpc>
                <a:spcPct val="150000"/>
              </a:lnSpc>
              <a:buFont typeface="Wingdings" panose="05000000000000000000" pitchFamily="2" charset="2"/>
              <a:buChar char="q"/>
            </a:pPr>
            <a:r>
              <a:rPr lang="en-IN" sz="2000" b="0" i="0" dirty="0">
                <a:effectLst/>
                <a:latin typeface="Times New Roman" panose="02020603050405020304" pitchFamily="18" charset="0"/>
                <a:cs typeface="Times New Roman" panose="02020603050405020304" pitchFamily="18" charset="0"/>
              </a:rPr>
              <a:t>SMB (Samba) for Windows/Linux clients</a:t>
            </a:r>
          </a:p>
          <a:p>
            <a:pPr marL="800100" lvl="1" indent="-342900">
              <a:lnSpc>
                <a:spcPct val="150000"/>
              </a:lnSpc>
              <a:buFont typeface="Wingdings" panose="05000000000000000000" pitchFamily="2" charset="2"/>
              <a:buChar char="q"/>
            </a:pPr>
            <a:r>
              <a:rPr lang="en-IN" sz="2000" b="0" i="0" dirty="0">
                <a:effectLst/>
                <a:latin typeface="Times New Roman" panose="02020603050405020304" pitchFamily="18" charset="0"/>
                <a:cs typeface="Times New Roman" panose="02020603050405020304" pitchFamily="18" charset="0"/>
              </a:rPr>
              <a:t>NFS for Unix/Linux clients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9444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C3485-E328-4109-166D-672FF3DADF9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DC1AE1B-742B-F1DC-FA46-8AD302A75D1F}"/>
              </a:ext>
            </a:extLst>
          </p:cNvPr>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B6246CDB-7A61-CF62-8618-9EB6BB54F418}"/>
              </a:ext>
            </a:extLst>
          </p:cNvPr>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34921F46-C26F-7852-8AC6-0CBD152AA2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a:extLst>
              <a:ext uri="{FF2B5EF4-FFF2-40B4-BE49-F238E27FC236}">
                <a16:creationId xmlns:a16="http://schemas.microsoft.com/office/drawing/2014/main" id="{14324123-32E1-7C01-A7D5-712A8DB16D5B}"/>
              </a:ext>
            </a:extLst>
          </p:cNvPr>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chemeClr val="bg1"/>
                </a:solidFill>
                <a:latin typeface="Times New Roman" panose="02020603050405020304" pitchFamily="18" charset="0"/>
                <a:cs typeface="Times New Roman" panose="02020603050405020304" pitchFamily="18" charset="0"/>
              </a:rPr>
              <a:t>N</a:t>
            </a:r>
            <a:r>
              <a:rPr lang="en-IN" sz="2400" b="1" dirty="0">
                <a:solidFill>
                  <a:schemeClr val="bg1"/>
                </a:solidFill>
                <a:latin typeface="Times New Roman" panose="02020603050405020304" pitchFamily="18" charset="0"/>
                <a:cs typeface="Times New Roman" panose="02020603050405020304" pitchFamily="18" charset="0"/>
              </a:rPr>
              <a:t>EXT PLAN</a:t>
            </a:r>
          </a:p>
        </p:txBody>
      </p:sp>
      <p:sp>
        <p:nvSpPr>
          <p:cNvPr id="11" name="Slide Number Placeholder 10">
            <a:extLst>
              <a:ext uri="{FF2B5EF4-FFF2-40B4-BE49-F238E27FC236}">
                <a16:creationId xmlns:a16="http://schemas.microsoft.com/office/drawing/2014/main" id="{DF55652E-0FBF-C613-B61C-9B2A8C751F69}"/>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16</a:t>
            </a:fld>
            <a:endParaRPr lang="en-IN" dirty="0">
              <a:solidFill>
                <a:prstClr val="black">
                  <a:tint val="75000"/>
                </a:prstClr>
              </a:solidFill>
            </a:endParaRPr>
          </a:p>
        </p:txBody>
      </p:sp>
      <p:sp>
        <p:nvSpPr>
          <p:cNvPr id="3" name="TextBox 2">
            <a:extLst>
              <a:ext uri="{FF2B5EF4-FFF2-40B4-BE49-F238E27FC236}">
                <a16:creationId xmlns:a16="http://schemas.microsoft.com/office/drawing/2014/main" id="{6819856D-E5E8-B89E-8B55-01A64DDBA39C}"/>
              </a:ext>
            </a:extLst>
          </p:cNvPr>
          <p:cNvSpPr txBox="1"/>
          <p:nvPr/>
        </p:nvSpPr>
        <p:spPr>
          <a:xfrm>
            <a:off x="609600" y="741133"/>
            <a:ext cx="10762780" cy="440120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1. Integrate Reverse Proxy &amp; SSL</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Configure </a:t>
            </a:r>
            <a:r>
              <a:rPr lang="en-IN" sz="2000" b="1" dirty="0">
                <a:latin typeface="Times New Roman" panose="02020603050405020304" pitchFamily="18" charset="0"/>
                <a:cs typeface="Times New Roman" panose="02020603050405020304" pitchFamily="18" charset="0"/>
              </a:rPr>
              <a:t>NGINX / NGINX Proxy Manager</a:t>
            </a:r>
            <a:r>
              <a:rPr lang="en-IN" sz="2000" dirty="0">
                <a:latin typeface="Times New Roman" panose="02020603050405020304" pitchFamily="18" charset="0"/>
                <a:cs typeface="Times New Roman" panose="02020603050405020304" pitchFamily="18" charset="0"/>
              </a:rPr>
              <a:t> for unified web access.</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Enable </a:t>
            </a:r>
            <a:r>
              <a:rPr lang="en-IN" sz="2000" b="1" dirty="0">
                <a:latin typeface="Times New Roman" panose="02020603050405020304" pitchFamily="18" charset="0"/>
                <a:cs typeface="Times New Roman" panose="02020603050405020304" pitchFamily="18" charset="0"/>
              </a:rPr>
              <a:t>HTTPS</a:t>
            </a:r>
            <a:r>
              <a:rPr lang="en-IN" sz="2000" dirty="0">
                <a:latin typeface="Times New Roman" panose="02020603050405020304" pitchFamily="18" charset="0"/>
                <a:cs typeface="Times New Roman" panose="02020603050405020304" pitchFamily="18" charset="0"/>
              </a:rPr>
              <a:t> for all containers and web interfaces.</a:t>
            </a:r>
          </a:p>
          <a:p>
            <a:pPr marL="800100" lvl="1" indent="-342900">
              <a:buFont typeface="Arial" panose="020B0604020202020204" pitchFamily="34" charset="0"/>
              <a:buChar char="•"/>
            </a:pPr>
            <a:endParaRPr lang="en-IN" sz="5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Enable Monitoring &amp; Metrics</a:t>
            </a:r>
          </a:p>
          <a:p>
            <a:pPr marL="800100" lvl="1"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Prometheus</a:t>
            </a:r>
            <a:r>
              <a:rPr lang="en-IN" sz="2000" dirty="0">
                <a:latin typeface="Times New Roman" panose="02020603050405020304" pitchFamily="18" charset="0"/>
                <a:cs typeface="Times New Roman" panose="02020603050405020304" pitchFamily="18" charset="0"/>
              </a:rPr>
              <a:t>: Collects CPU, memory, disk, and container metrics.</a:t>
            </a:r>
          </a:p>
          <a:p>
            <a:pPr marL="800100" lvl="1"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Grafana</a:t>
            </a:r>
            <a:r>
              <a:rPr lang="en-IN" sz="2000" dirty="0">
                <a:latin typeface="Times New Roman" panose="02020603050405020304" pitchFamily="18" charset="0"/>
                <a:cs typeface="Times New Roman" panose="02020603050405020304" pitchFamily="18" charset="0"/>
              </a:rPr>
              <a:t>: Visualizes real-time and historical performance dashboards.</a:t>
            </a:r>
          </a:p>
          <a:p>
            <a:pPr marL="800100" lvl="1" indent="-342900">
              <a:buFont typeface="Arial" panose="020B0604020202020204" pitchFamily="34" charset="0"/>
              <a:buChar char="•"/>
            </a:pPr>
            <a:endParaRPr lang="en-IN" sz="5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Enhance Backup &amp; Security</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Automate backups with </a:t>
            </a:r>
            <a:r>
              <a:rPr lang="en-IN" sz="2000" b="1" dirty="0">
                <a:latin typeface="Times New Roman" panose="02020603050405020304" pitchFamily="18" charset="0"/>
                <a:cs typeface="Times New Roman" panose="02020603050405020304" pitchFamily="18" charset="0"/>
              </a:rPr>
              <a:t>Borg / </a:t>
            </a:r>
            <a:r>
              <a:rPr lang="en-IN" sz="2000" b="1" dirty="0" err="1">
                <a:latin typeface="Times New Roman" panose="02020603050405020304" pitchFamily="18" charset="0"/>
                <a:cs typeface="Times New Roman" panose="02020603050405020304" pitchFamily="18" charset="0"/>
              </a:rPr>
              <a:t>Restic</a:t>
            </a:r>
            <a:r>
              <a:rPr lang="en-IN" sz="2000" b="1" dirty="0">
                <a:latin typeface="Times New Roman" panose="02020603050405020304" pitchFamily="18" charset="0"/>
                <a:cs typeface="Times New Roman" panose="02020603050405020304" pitchFamily="18" charset="0"/>
              </a:rPr>
              <a:t> / </a:t>
            </a:r>
            <a:r>
              <a:rPr lang="en-IN" sz="2000" b="1" dirty="0" err="1">
                <a:latin typeface="Times New Roman" panose="02020603050405020304" pitchFamily="18" charset="0"/>
                <a:cs typeface="Times New Roman" panose="02020603050405020304" pitchFamily="18" charset="0"/>
              </a:rPr>
              <a:t>rclone</a:t>
            </a:r>
            <a:r>
              <a:rPr lang="en-IN" sz="2000" dirty="0">
                <a:latin typeface="Times New Roman" panose="02020603050405020304" pitchFamily="18" charset="0"/>
                <a:cs typeface="Times New Roman" panose="02020603050405020304" pitchFamily="18" charset="0"/>
              </a:rPr>
              <a:t> (local + cloud).</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 </a:t>
            </a:r>
            <a:r>
              <a:rPr lang="en-IN" sz="2000" b="1" dirty="0">
                <a:latin typeface="Times New Roman" panose="02020603050405020304" pitchFamily="18" charset="0"/>
                <a:cs typeface="Times New Roman" panose="02020603050405020304" pitchFamily="18" charset="0"/>
              </a:rPr>
              <a:t>VPN (</a:t>
            </a:r>
            <a:r>
              <a:rPr lang="en-IN" sz="2000" b="1" dirty="0" err="1">
                <a:latin typeface="Times New Roman" panose="02020603050405020304" pitchFamily="18" charset="0"/>
                <a:cs typeface="Times New Roman" panose="02020603050405020304" pitchFamily="18" charset="0"/>
              </a:rPr>
              <a:t>WireGuard</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for secure remote access.</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Optional: Add </a:t>
            </a:r>
            <a:r>
              <a:rPr lang="en-IN" sz="2000" b="1" dirty="0">
                <a:latin typeface="Times New Roman" panose="02020603050405020304" pitchFamily="18" charset="0"/>
                <a:cs typeface="Times New Roman" panose="02020603050405020304" pitchFamily="18" charset="0"/>
              </a:rPr>
              <a:t>role-based authentication</a:t>
            </a:r>
            <a:r>
              <a:rPr lang="en-IN" sz="2000" dirty="0">
                <a:latin typeface="Times New Roman" panose="02020603050405020304" pitchFamily="18" charset="0"/>
                <a:cs typeface="Times New Roman" panose="02020603050405020304" pitchFamily="18" charset="0"/>
              </a:rPr>
              <a:t> via </a:t>
            </a:r>
            <a:r>
              <a:rPr lang="en-IN" sz="2000" b="1" dirty="0" err="1">
                <a:latin typeface="Times New Roman" panose="02020603050405020304" pitchFamily="18" charset="0"/>
                <a:cs typeface="Times New Roman" panose="02020603050405020304" pitchFamily="18" charset="0"/>
              </a:rPr>
              <a:t>Authelia</a:t>
            </a:r>
            <a:r>
              <a:rPr lang="en-IN" sz="2000" b="1" dirty="0">
                <a:latin typeface="Times New Roman" panose="02020603050405020304" pitchFamily="18" charset="0"/>
                <a:cs typeface="Times New Roman" panose="02020603050405020304" pitchFamily="18" charset="0"/>
              </a:rPr>
              <a:t> / </a:t>
            </a:r>
            <a:r>
              <a:rPr lang="en-IN" sz="2000" b="1" dirty="0" err="1">
                <a:latin typeface="Times New Roman" panose="02020603050405020304" pitchFamily="18" charset="0"/>
                <a:cs typeface="Times New Roman" panose="02020603050405020304" pitchFamily="18" charset="0"/>
              </a:rPr>
              <a:t>Keycloak</a:t>
            </a:r>
            <a:r>
              <a:rPr lang="en-IN" sz="2000" dirty="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endParaRPr lang="en-IN" sz="5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4. Test and Optimize System</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Measure </a:t>
            </a:r>
            <a:r>
              <a:rPr lang="en-IN" sz="2000" b="1" dirty="0">
                <a:latin typeface="Times New Roman" panose="02020603050405020304" pitchFamily="18" charset="0"/>
                <a:cs typeface="Times New Roman" panose="02020603050405020304" pitchFamily="18" charset="0"/>
              </a:rPr>
              <a:t>container performance</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NAS throughput</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multi-user load</a:t>
            </a:r>
            <a:r>
              <a:rPr lang="en-IN" sz="2000" dirty="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Tune </a:t>
            </a:r>
            <a:r>
              <a:rPr lang="en-IN" sz="2000" b="1" dirty="0">
                <a:latin typeface="Times New Roman" panose="02020603050405020304" pitchFamily="18" charset="0"/>
                <a:cs typeface="Times New Roman" panose="02020603050405020304" pitchFamily="18" charset="0"/>
              </a:rPr>
              <a:t>resource allocation</a:t>
            </a:r>
            <a:r>
              <a:rPr lang="en-IN" sz="2000" dirty="0">
                <a:latin typeface="Times New Roman" panose="02020603050405020304" pitchFamily="18" charset="0"/>
                <a:cs typeface="Times New Roman" panose="02020603050405020304" pitchFamily="18" charset="0"/>
              </a:rPr>
              <a:t> for Raspberry Pi hardware limits.</a:t>
            </a:r>
          </a:p>
        </p:txBody>
      </p:sp>
    </p:spTree>
    <p:extLst>
      <p:ext uri="{BB962C8B-B14F-4D97-AF65-F5344CB8AC3E}">
        <p14:creationId xmlns:p14="http://schemas.microsoft.com/office/powerpoint/2010/main" val="888668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4D25B-87F9-5A56-568F-5A6C812BFFE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ABEA4B9-2BD6-9EBD-EDE1-D8ED323D9F4A}"/>
              </a:ext>
            </a:extLst>
          </p:cNvPr>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67E695AD-9705-532A-1B4C-C5511F446571}"/>
              </a:ext>
            </a:extLst>
          </p:cNvPr>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6ADAE7EB-A58D-0B96-9C47-69D7E0E33A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a:extLst>
              <a:ext uri="{FF2B5EF4-FFF2-40B4-BE49-F238E27FC236}">
                <a16:creationId xmlns:a16="http://schemas.microsoft.com/office/drawing/2014/main" id="{3F93EA65-CA5C-B417-DB9C-9B5420A45A2A}"/>
              </a:ext>
            </a:extLst>
          </p:cNvPr>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chemeClr val="bg1"/>
                </a:solidFill>
                <a:latin typeface="Times New Roman" panose="02020603050405020304" pitchFamily="18" charset="0"/>
                <a:cs typeface="Times New Roman" panose="02020603050405020304" pitchFamily="18" charset="0"/>
              </a:rPr>
              <a:t>CONCLUSION</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9B11FBC2-5462-97C1-AAB9-1BEE4DC7DDF6}"/>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17</a:t>
            </a:fld>
            <a:endParaRPr lang="en-IN" dirty="0">
              <a:solidFill>
                <a:prstClr val="black">
                  <a:tint val="75000"/>
                </a:prstClr>
              </a:solidFill>
            </a:endParaRPr>
          </a:p>
        </p:txBody>
      </p:sp>
      <p:sp>
        <p:nvSpPr>
          <p:cNvPr id="13" name="Rectangle 6">
            <a:extLst>
              <a:ext uri="{FF2B5EF4-FFF2-40B4-BE49-F238E27FC236}">
                <a16:creationId xmlns:a16="http://schemas.microsoft.com/office/drawing/2014/main" id="{ED3ACA71-7FBD-995C-7942-4634FA623265}"/>
              </a:ext>
            </a:extLst>
          </p:cNvPr>
          <p:cNvSpPr>
            <a:spLocks noChangeArrowheads="1"/>
          </p:cNvSpPr>
          <p:nvPr/>
        </p:nvSpPr>
        <p:spPr bwMode="auto">
          <a:xfrm>
            <a:off x="457200" y="996289"/>
            <a:ext cx="1083898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Summary: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 have successfully built a functional NAS prototype that is both powerful and cost-effective, validating our initial project goals.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Achievements: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containerized, multi-service platform for data management has been established on a Raspberry Pi.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Learning Outcomes: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Gained practical experience in: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System Administration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 Configuration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 Management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(Filesystems, RAID concepts).</a:t>
            </a:r>
          </a:p>
          <a:p>
            <a:pPr lvl="1"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DevOps Practices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(Containerization with Docker, Infrastructure as Code).</a:t>
            </a:r>
          </a:p>
          <a:p>
            <a:pPr lvl="1"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Cybersecurity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(Implementing secure remote access).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Scope: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modular architecture allows for future expansion, such as creating a multi-Pi cluster, integrating smart home automation, or adding more advanced data analytics services.</a:t>
            </a:r>
          </a:p>
        </p:txBody>
      </p:sp>
    </p:spTree>
    <p:extLst>
      <p:ext uri="{BB962C8B-B14F-4D97-AF65-F5344CB8AC3E}">
        <p14:creationId xmlns:p14="http://schemas.microsoft.com/office/powerpoint/2010/main" val="2258112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b="1" dirty="0">
                <a:solidFill>
                  <a:schemeClr val="bg1"/>
                </a:solidFill>
                <a:latin typeface="Times New Roman" panose="02020603050405020304" pitchFamily="18" charset="0"/>
                <a:cs typeface="Times New Roman" panose="02020603050405020304" pitchFamily="18" charset="0"/>
              </a:rPr>
              <a:t>REFERENCES</a:t>
            </a:r>
          </a:p>
        </p:txBody>
      </p:sp>
      <p:sp>
        <p:nvSpPr>
          <p:cNvPr id="3" name="Slide Number Placeholder 2">
            <a:extLst>
              <a:ext uri="{FF2B5EF4-FFF2-40B4-BE49-F238E27FC236}">
                <a16:creationId xmlns:a16="http://schemas.microsoft.com/office/drawing/2014/main" id="{DBE59BF2-9054-8076-187B-DF3F105C5FCC}"/>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18</a:t>
            </a:fld>
            <a:endParaRPr lang="en-IN" dirty="0">
              <a:solidFill>
                <a:prstClr val="black">
                  <a:tint val="75000"/>
                </a:prstClr>
              </a:solidFill>
            </a:endParaRPr>
          </a:p>
        </p:txBody>
      </p:sp>
      <p:sp>
        <p:nvSpPr>
          <p:cNvPr id="4" name="Rectangle 2">
            <a:extLst>
              <a:ext uri="{FF2B5EF4-FFF2-40B4-BE49-F238E27FC236}">
                <a16:creationId xmlns:a16="http://schemas.microsoft.com/office/drawing/2014/main" id="{33FDC28C-39B9-046B-5319-885D63A68628}"/>
              </a:ext>
            </a:extLst>
          </p:cNvPr>
          <p:cNvSpPr>
            <a:spLocks noChangeArrowheads="1"/>
          </p:cNvSpPr>
          <p:nvPr/>
        </p:nvSpPr>
        <p:spPr bwMode="auto">
          <a:xfrm>
            <a:off x="533400" y="831187"/>
            <a:ext cx="1083898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Gibson, G. A., et al. "File server scaling with network-attached secure disks."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ACM SIGMETRICS Performance Evaluation Review</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25. No. 1. 1997.</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Katz, R. H. "Case for redundant arrays of inexpensive disks (RAID)."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ACM SIGMOD Record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18. No. 3. 1989.</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Hensbergen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 "Deconstructing network attached storage."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USENIX ;login: Magazine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32.4 (2007): 25-33.</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OpenMediaVault Official Documentation: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https://www.openmediavault.org/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Raspberry Pi Official Documentation: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https://www.raspberrypi.org/documentation/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Docker Official Documentation: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5"/>
              </a:rPr>
              <a:t>https://docs.docker.com/</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9021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C57AB-B21B-20BD-330B-58DC6BF15D3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55E1D6B-2552-2121-EEE6-2FD67C833002}"/>
              </a:ext>
            </a:extLst>
          </p:cNvPr>
          <p:cNvSpPr txBox="1">
            <a:spLocks/>
          </p:cNvSpPr>
          <p:nvPr/>
        </p:nvSpPr>
        <p:spPr>
          <a:xfrm>
            <a:off x="3140" y="6575217"/>
            <a:ext cx="7990508" cy="282781"/>
          </a:xfrm>
          <a:prstGeom prst="rect">
            <a:avLst/>
          </a:prstGeom>
          <a:solidFill>
            <a:schemeClr val="accent6">
              <a:lumMod val="75000"/>
            </a:schemeClr>
          </a:solidFill>
          <a:ln>
            <a:solidFill>
              <a:schemeClr val="accent6">
                <a:lumMod val="75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a:solidFill>
                  <a:schemeClr val="tx1">
                    <a:lumMod val="95000"/>
                    <a:lumOff val="5000"/>
                  </a:schemeClr>
                </a:solidFill>
                <a:latin typeface="Cambria" panose="02040503050406030204" pitchFamily="18" charset="0"/>
              </a:rPr>
              <a:t>Bangalore Institute of Technology</a:t>
            </a:r>
          </a:p>
        </p:txBody>
      </p:sp>
      <p:sp>
        <p:nvSpPr>
          <p:cNvPr id="9" name="Title 1">
            <a:extLst>
              <a:ext uri="{FF2B5EF4-FFF2-40B4-BE49-F238E27FC236}">
                <a16:creationId xmlns:a16="http://schemas.microsoft.com/office/drawing/2014/main" id="{23D8098A-7D7C-3E7D-C51E-462C5FC405E4}"/>
              </a:ext>
            </a:extLst>
          </p:cNvPr>
          <p:cNvSpPr txBox="1">
            <a:spLocks/>
          </p:cNvSpPr>
          <p:nvPr/>
        </p:nvSpPr>
        <p:spPr>
          <a:xfrm>
            <a:off x="8008661" y="6575217"/>
            <a:ext cx="4183339" cy="282782"/>
          </a:xfrm>
          <a:prstGeom prst="rect">
            <a:avLst/>
          </a:prstGeom>
          <a:solidFill>
            <a:schemeClr val="accent1">
              <a:lumMod val="50000"/>
            </a:schemeClr>
          </a:solidFill>
          <a:ln>
            <a:solidFill>
              <a:schemeClr val="accent1">
                <a:lumMod val="50000"/>
              </a:schemeClr>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00" b="1" dirty="0">
                <a:solidFill>
                  <a:schemeClr val="bg1"/>
                </a:solidFill>
                <a:latin typeface="Cambria" panose="02040503050406030204" pitchFamily="18" charset="0"/>
              </a:rPr>
              <a:t> Dept. of ECE, BIT</a:t>
            </a:r>
          </a:p>
        </p:txBody>
      </p:sp>
      <p:pic>
        <p:nvPicPr>
          <p:cNvPr id="10" name="Picture 9">
            <a:extLst>
              <a:ext uri="{FF2B5EF4-FFF2-40B4-BE49-F238E27FC236}">
                <a16:creationId xmlns:a16="http://schemas.microsoft.com/office/drawing/2014/main" id="{5EAEF938-5E28-8620-A63A-C59232E70A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72380" y="5907332"/>
            <a:ext cx="609823" cy="633346"/>
          </a:xfrm>
          <a:prstGeom prst="rect">
            <a:avLst/>
          </a:prstGeom>
        </p:spPr>
      </p:pic>
      <p:sp>
        <p:nvSpPr>
          <p:cNvPr id="7" name="Title 1">
            <a:extLst>
              <a:ext uri="{FF2B5EF4-FFF2-40B4-BE49-F238E27FC236}">
                <a16:creationId xmlns:a16="http://schemas.microsoft.com/office/drawing/2014/main" id="{44064E34-46C5-4285-3C25-73A9B5268074}"/>
              </a:ext>
            </a:extLst>
          </p:cNvPr>
          <p:cNvSpPr txBox="1">
            <a:spLocks/>
          </p:cNvSpPr>
          <p:nvPr/>
        </p:nvSpPr>
        <p:spPr>
          <a:xfrm>
            <a:off x="0" y="0"/>
            <a:ext cx="12191999" cy="464024"/>
          </a:xfrm>
          <a:prstGeom prst="rect">
            <a:avLst/>
          </a:prstGeom>
          <a:solidFill>
            <a:srgbClr val="002060"/>
          </a:solidFill>
          <a:ln>
            <a:solidFill>
              <a:schemeClr val="accent6">
                <a:lumMod val="20000"/>
                <a:lumOff val="80000"/>
              </a:schemeClr>
            </a:solidFill>
          </a:ln>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sz="2800" b="1" dirty="0">
              <a:solidFill>
                <a:schemeClr val="bg1"/>
              </a:solidFill>
              <a:latin typeface="Cambria" panose="02040503050406030204" pitchFamily="18" charset="0"/>
            </a:endParaRPr>
          </a:p>
        </p:txBody>
      </p:sp>
      <p:sp>
        <p:nvSpPr>
          <p:cNvPr id="3" name="TextBox 2">
            <a:extLst>
              <a:ext uri="{FF2B5EF4-FFF2-40B4-BE49-F238E27FC236}">
                <a16:creationId xmlns:a16="http://schemas.microsoft.com/office/drawing/2014/main" id="{75E595E4-E02E-61C6-A41F-F9E196329EAA}"/>
              </a:ext>
            </a:extLst>
          </p:cNvPr>
          <p:cNvSpPr txBox="1"/>
          <p:nvPr/>
        </p:nvSpPr>
        <p:spPr>
          <a:xfrm>
            <a:off x="1209367" y="3105834"/>
            <a:ext cx="9773264" cy="707886"/>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THANK YOU</a:t>
            </a:r>
            <a:endParaRPr lang="en-IN" sz="40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A3024DBA-ED16-8AA5-51ED-8D86C16D437B}"/>
              </a:ext>
            </a:extLst>
          </p:cNvPr>
          <p:cNvSpPr>
            <a:spLocks noGrp="1"/>
          </p:cNvSpPr>
          <p:nvPr>
            <p:ph type="sldNum" sz="quarter" idx="12"/>
          </p:nvPr>
        </p:nvSpPr>
        <p:spPr>
          <a:xfrm>
            <a:off x="8629180" y="6224005"/>
            <a:ext cx="2743200" cy="365125"/>
          </a:xfrm>
        </p:spPr>
        <p:txBody>
          <a:bodyPr/>
          <a:lstStyle/>
          <a:p>
            <a:fld id="{CCB6B689-C4E4-455B-8D67-3A7798DC1D52}" type="slidenum">
              <a:rPr lang="en-IN" smtClean="0">
                <a:solidFill>
                  <a:prstClr val="black">
                    <a:tint val="75000"/>
                  </a:prstClr>
                </a:solidFill>
              </a:rPr>
              <a:pPr/>
              <a:t>19</a:t>
            </a:fld>
            <a:endParaRPr lang="en-IN" dirty="0">
              <a:solidFill>
                <a:prstClr val="black">
                  <a:tint val="75000"/>
                </a:prstClr>
              </a:solidFill>
            </a:endParaRPr>
          </a:p>
        </p:txBody>
      </p:sp>
    </p:spTree>
    <p:extLst>
      <p:ext uri="{BB962C8B-B14F-4D97-AF65-F5344CB8AC3E}">
        <p14:creationId xmlns:p14="http://schemas.microsoft.com/office/powerpoint/2010/main" val="196703272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17818</TotalTime>
  <Words>2096</Words>
  <Application>Microsoft Office PowerPoint</Application>
  <PresentationFormat>Widescreen</PresentationFormat>
  <Paragraphs>383</Paragraphs>
  <Slides>19</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Cambria</vt:lpstr>
      <vt:lpstr>Times New Roman</vt:lpstr>
      <vt:lpstr>Wingdings</vt:lpstr>
      <vt:lpstr>1_Office Theme</vt:lpstr>
      <vt:lpstr> PI-NAS: A Raspberry Pi-Based Network Attached Storage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Domain Representation of LTI System</dc:title>
  <dc:creator>Muralidhar Rangappa</dc:creator>
  <cp:lastModifiedBy>Aditya S Gowda</cp:lastModifiedBy>
  <cp:revision>344</cp:revision>
  <dcterms:created xsi:type="dcterms:W3CDTF">2020-03-27T05:01:11Z</dcterms:created>
  <dcterms:modified xsi:type="dcterms:W3CDTF">2025-10-10T18:21:55Z</dcterms:modified>
</cp:coreProperties>
</file>