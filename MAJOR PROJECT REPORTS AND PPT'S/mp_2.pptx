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7" r:id="rId2"/>
    <p:sldId id="312" r:id="rId3"/>
    <p:sldId id="335" r:id="rId4"/>
    <p:sldId id="339" r:id="rId5"/>
    <p:sldId id="331" r:id="rId6"/>
    <p:sldId id="337" r:id="rId7"/>
    <p:sldId id="333" r:id="rId8"/>
    <p:sldId id="319" r:id="rId9"/>
    <p:sldId id="338" r:id="rId10"/>
    <p:sldId id="32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3" userDrawn="1">
          <p15:clr>
            <a:srgbClr val="A4A3A4"/>
          </p15:clr>
        </p15:guide>
        <p15:guide id="2" pos="38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08A5E"/>
    <a:srgbClr val="222E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24"/>
      </p:cViewPr>
      <p:guideLst>
        <p:guide orient="horz" pos="2153"/>
        <p:guide pos="385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8FEE75-A6B2-4555-979B-B7EED2C25559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706D8E-F031-488D-90E2-B228AF72B15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61914-BD65-49E6-B13D-8C50EF0C5BC8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t>10-06-2025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B689-C4E4-455B-8D67-3A7798DC1D52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61914-BD65-49E6-B13D-8C50EF0C5BC8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t>10-06-2025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B689-C4E4-455B-8D67-3A7798DC1D52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61914-BD65-49E6-B13D-8C50EF0C5BC8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t>10-06-2025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B689-C4E4-455B-8D67-3A7798DC1D52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61914-BD65-49E6-B13D-8C50EF0C5BC8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t>10-06-2025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B689-C4E4-455B-8D67-3A7798DC1D52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61914-BD65-49E6-B13D-8C50EF0C5BC8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t>10-06-2025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B689-C4E4-455B-8D67-3A7798DC1D52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61914-BD65-49E6-B13D-8C50EF0C5BC8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t>10-06-2025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B689-C4E4-455B-8D67-3A7798DC1D52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61914-BD65-49E6-B13D-8C50EF0C5BC8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t>10-06-2025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B689-C4E4-455B-8D67-3A7798DC1D52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61914-BD65-49E6-B13D-8C50EF0C5BC8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t>10-06-2025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B689-C4E4-455B-8D67-3A7798DC1D52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61914-BD65-49E6-B13D-8C50EF0C5BC8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t>10-06-2025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B689-C4E4-455B-8D67-3A7798DC1D52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61914-BD65-49E6-B13D-8C50EF0C5BC8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t>10-06-2025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B689-C4E4-455B-8D67-3A7798DC1D52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61914-BD65-49E6-B13D-8C50EF0C5BC8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t>10-06-2025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6B689-C4E4-455B-8D67-3A7798DC1D52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B61914-BD65-49E6-B13D-8C50EF0C5BC8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t>10-06-2025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6B689-C4E4-455B-8D67-3A7798DC1D52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304170"/>
            <a:ext cx="12191999" cy="1201330"/>
          </a:xfr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anchor="ctr"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PI-STORAGE: A COST-EFFECTIVE AND SECURE RASPBERRY PI-BASED NAS SOLUTION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2" name="Picture 6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6939" cy="1406769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TextBox 27"/>
          <p:cNvSpPr txBox="1"/>
          <p:nvPr/>
        </p:nvSpPr>
        <p:spPr>
          <a:xfrm>
            <a:off x="1209823" y="0"/>
            <a:ext cx="9777046" cy="1323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Bangalore Institute of Technology</a:t>
            </a:r>
          </a:p>
          <a:p>
            <a:pPr algn="ctr"/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K.R. Road, V </a:t>
            </a:r>
            <a:r>
              <a:rPr lang="en-IN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Puram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Bangalore-560004</a:t>
            </a:r>
          </a:p>
          <a:p>
            <a:pPr algn="ctr"/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 Electronics and Communication Engineering</a:t>
            </a:r>
            <a:endParaRPr lang="en-IN" sz="2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436" name="Picture 4" descr="352397-vtu-logo - Kollege Time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589115" y="1"/>
            <a:ext cx="1602885" cy="1406768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2590372" y="2167802"/>
            <a:ext cx="6733309" cy="4603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MAJOR-PROJECT-22EC76 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5796" y="5139034"/>
            <a:ext cx="3571044" cy="1198880"/>
          </a:xfrm>
          <a:prstGeom prst="rect">
            <a:avLst/>
          </a:prstGeom>
          <a:solidFill>
            <a:srgbClr val="CCECFF">
              <a:alpha val="49804"/>
            </a:srgbClr>
          </a:solidFill>
          <a:ln>
            <a:solidFill>
              <a:srgbClr val="FFC000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Likhitha K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just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Dept. of ECE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BIT.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35795" y="4769702"/>
            <a:ext cx="3571045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 the guidance of: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82559" y="5150757"/>
            <a:ext cx="3571044" cy="1200329"/>
          </a:xfrm>
          <a:prstGeom prst="rect">
            <a:avLst/>
          </a:prstGeom>
          <a:solidFill>
            <a:srgbClr val="CCECFF">
              <a:alpha val="49804"/>
            </a:srgbClr>
          </a:solidFill>
          <a:ln>
            <a:solidFill>
              <a:srgbClr val="FFC000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Abhishek Agarwal      1BI22EC003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Aditya S Gowda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1BI22EC007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Aditya Umesh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	    1BI22EC008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Amruth Shirin K H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1BI22EC012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82558" y="4781425"/>
            <a:ext cx="3571045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3140" y="6575217"/>
            <a:ext cx="7990508" cy="28278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Bangalore Institute of Technology</a:t>
            </a:r>
          </a:p>
        </p:txBody>
      </p:sp>
      <p:sp>
        <p:nvSpPr>
          <p:cNvPr id="9" name="Title 1"/>
          <p:cNvSpPr txBox="1"/>
          <p:nvPr/>
        </p:nvSpPr>
        <p:spPr>
          <a:xfrm>
            <a:off x="8008661" y="6575217"/>
            <a:ext cx="4183339" cy="28278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Dept. of ECE, BIT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380" y="5907332"/>
            <a:ext cx="609823" cy="633346"/>
          </a:xfrm>
          <a:prstGeom prst="rect">
            <a:avLst/>
          </a:prstGeom>
        </p:spPr>
      </p:pic>
      <p:sp>
        <p:nvSpPr>
          <p:cNvPr id="7" name="Title 1"/>
          <p:cNvSpPr txBox="1"/>
          <p:nvPr/>
        </p:nvSpPr>
        <p:spPr>
          <a:xfrm>
            <a:off x="0" y="0"/>
            <a:ext cx="12191999" cy="464024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 </a:t>
            </a:r>
          </a:p>
        </p:txBody>
      </p:sp>
      <p:graphicFrame>
        <p:nvGraphicFramePr>
          <p:cNvPr id="2" name="Table 1"/>
          <p:cNvGraphicFramePr/>
          <p:nvPr>
            <p:custDataLst>
              <p:tags r:id="rId1"/>
            </p:custDataLst>
          </p:nvPr>
        </p:nvGraphicFramePr>
        <p:xfrm>
          <a:off x="1860550" y="762000"/>
          <a:ext cx="8533765" cy="34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3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57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                                                                      CONTENTS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INTRODUCTION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PROBLEM STATEMENT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7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ym typeface="+mn-ea"/>
                        </a:rPr>
                        <a:t>LITERATURE SURVEY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METHODOLOGY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CONCLUSION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REFERENCES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3140" y="6575217"/>
            <a:ext cx="7990508" cy="28278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Bangalore Institute of Technology</a:t>
            </a:r>
          </a:p>
        </p:txBody>
      </p:sp>
      <p:sp>
        <p:nvSpPr>
          <p:cNvPr id="9" name="Title 1"/>
          <p:cNvSpPr txBox="1"/>
          <p:nvPr/>
        </p:nvSpPr>
        <p:spPr>
          <a:xfrm>
            <a:off x="8008661" y="6575217"/>
            <a:ext cx="4183339" cy="28278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Dept. of ECE, BIT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380" y="5907332"/>
            <a:ext cx="609823" cy="633346"/>
          </a:xfrm>
          <a:prstGeom prst="rect">
            <a:avLst/>
          </a:prstGeom>
        </p:spPr>
      </p:pic>
      <p:sp>
        <p:nvSpPr>
          <p:cNvPr id="7" name="Title 1"/>
          <p:cNvSpPr txBox="1"/>
          <p:nvPr/>
        </p:nvSpPr>
        <p:spPr>
          <a:xfrm>
            <a:off x="16043" y="0"/>
            <a:ext cx="12191999" cy="464024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34069" y="864592"/>
            <a:ext cx="9923859" cy="4849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500" marR="0"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Pi-Storage is a cost-effective, secure, and energy-efficient Network Attached Storage (NAS) solution built using a Raspberry Pi. Designed for personal users and small businesses, it offers centralized file storage and management over LAN and the internet. By leveraging open-source tools and standard protocols, Pi-Storage ensures flexibility, scalability, and platform compatibility.</a:t>
            </a:r>
          </a:p>
          <a:p>
            <a:pPr marL="63500" marR="0" algn="just">
              <a:lnSpc>
                <a:spcPct val="150000"/>
              </a:lnSpc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500" marR="0"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Benefits: </a:t>
            </a:r>
          </a:p>
          <a:p>
            <a:pPr marL="349250" marR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Power Usage – Ideal for 24/7 operation</a:t>
            </a:r>
          </a:p>
          <a:p>
            <a:pPr marL="349250" marR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Affordable – Much cheaper than commercial NAS systems</a:t>
            </a:r>
          </a:p>
          <a:p>
            <a:pPr marL="349250" marR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– SSH, VPN, TLS/SSL, and firewall integration</a:t>
            </a:r>
          </a:p>
          <a:p>
            <a:pPr marL="349250" marR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Redundant Storage – RAID support using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mdadm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9250" marR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Sync – Real-time backup via Next cloud/OwnCloud</a:t>
            </a:r>
          </a:p>
          <a:p>
            <a:pPr marL="349250" marR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 Access – Works on Windows, Linux, macOS</a:t>
            </a:r>
          </a:p>
          <a:p>
            <a:pPr marL="349250" marR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Expansion – Supports Docker, Plex, 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Jellyfin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3140" y="6575217"/>
            <a:ext cx="7990508" cy="28278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Bangalore Institute of Technology</a:t>
            </a:r>
          </a:p>
        </p:txBody>
      </p:sp>
      <p:sp>
        <p:nvSpPr>
          <p:cNvPr id="9" name="Title 1"/>
          <p:cNvSpPr txBox="1"/>
          <p:nvPr/>
        </p:nvSpPr>
        <p:spPr>
          <a:xfrm>
            <a:off x="8008661" y="6575217"/>
            <a:ext cx="4183339" cy="28278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Dept. of ECE, BIT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380" y="5907332"/>
            <a:ext cx="609823" cy="633346"/>
          </a:xfrm>
          <a:prstGeom prst="rect">
            <a:avLst/>
          </a:prstGeom>
        </p:spPr>
      </p:pic>
      <p:sp>
        <p:nvSpPr>
          <p:cNvPr id="7" name="Title 1"/>
          <p:cNvSpPr txBox="1"/>
          <p:nvPr/>
        </p:nvSpPr>
        <p:spPr>
          <a:xfrm>
            <a:off x="16043" y="0"/>
            <a:ext cx="12191999" cy="464024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6625DE-4DCF-D802-43B4-E00E69CBC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1681" y="530298"/>
            <a:ext cx="9948638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Problem Statement: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High-cost, power-intensive NAS solutions are inaccessible to individuals and small businesses. There is a need for a secure, energy-efficient, and affordable storage system that offers remote and local access.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Scope: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 a low-cost NAS using Raspberry Pi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SMB, NFS, SFTP for cross-platform file sharing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 RAID via mdadm for redundancy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cloud sync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Nextcloud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/OwnCloud), media streaming (Plex/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Jellyfin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 web-based management (OpenMediaVault)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Limitations:</a:t>
            </a: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performance due to Raspberry Pi hardware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suitable for enterprise-scale storage or high concurrency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RAID only (no hardware RAID support)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Requires technical setup for VPN and remote access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number of external drives supported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2" descr="🔴">
            <a:extLst>
              <a:ext uri="{FF2B5EF4-FFF2-40B4-BE49-F238E27FC236}">
                <a16:creationId xmlns:a16="http://schemas.microsoft.com/office/drawing/2014/main" id="{73DDF7D8-19C1-6527-28E7-4822038676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-2115336" y="820597"/>
            <a:ext cx="698517" cy="698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utoShape 3" descr="🟢">
            <a:extLst>
              <a:ext uri="{FF2B5EF4-FFF2-40B4-BE49-F238E27FC236}">
                <a16:creationId xmlns:a16="http://schemas.microsoft.com/office/drawing/2014/main" id="{630BBD08-E7E5-E73B-05ED-90B6CB5412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418226" y="820597"/>
            <a:ext cx="698517" cy="698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 descr="🟡">
            <a:extLst>
              <a:ext uri="{FF2B5EF4-FFF2-40B4-BE49-F238E27FC236}">
                <a16:creationId xmlns:a16="http://schemas.microsoft.com/office/drawing/2014/main" id="{B0488E27-E0FB-378D-5C50-45ADA91364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307639" y="820597"/>
            <a:ext cx="698517" cy="698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3140" y="6575217"/>
            <a:ext cx="7990508" cy="28278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Bangalore Institute of Technology</a:t>
            </a:r>
          </a:p>
        </p:txBody>
      </p:sp>
      <p:sp>
        <p:nvSpPr>
          <p:cNvPr id="9" name="Title 1"/>
          <p:cNvSpPr txBox="1"/>
          <p:nvPr/>
        </p:nvSpPr>
        <p:spPr>
          <a:xfrm>
            <a:off x="8008661" y="6575217"/>
            <a:ext cx="4183339" cy="28278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Dept. of ECE, BIT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380" y="5907332"/>
            <a:ext cx="609823" cy="633346"/>
          </a:xfrm>
          <a:prstGeom prst="rect">
            <a:avLst/>
          </a:prstGeom>
        </p:spPr>
      </p:pic>
      <p:sp>
        <p:nvSpPr>
          <p:cNvPr id="7" name="Title 1"/>
          <p:cNvSpPr txBox="1"/>
          <p:nvPr/>
        </p:nvSpPr>
        <p:spPr>
          <a:xfrm>
            <a:off x="0" y="0"/>
            <a:ext cx="12191999" cy="464024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152400" y="-322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304800" y="1201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1666B0-D31A-B969-3DF1-6E1B124F0497}"/>
              </a:ext>
            </a:extLst>
          </p:cNvPr>
          <p:cNvSpPr txBox="1"/>
          <p:nvPr/>
        </p:nvSpPr>
        <p:spPr>
          <a:xfrm>
            <a:off x="3050458" y="3236959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38A15E9-1DBC-6C07-8623-17791618A2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878175"/>
              </p:ext>
            </p:extLst>
          </p:nvPr>
        </p:nvGraphicFramePr>
        <p:xfrm>
          <a:off x="304800" y="724711"/>
          <a:ext cx="11067580" cy="53864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589">
                  <a:extLst>
                    <a:ext uri="{9D8B030D-6E8A-4147-A177-3AD203B41FA5}">
                      <a16:colId xmlns:a16="http://schemas.microsoft.com/office/drawing/2014/main" val="2764295395"/>
                    </a:ext>
                  </a:extLst>
                </a:gridCol>
                <a:gridCol w="3709301">
                  <a:extLst>
                    <a:ext uri="{9D8B030D-6E8A-4147-A177-3AD203B41FA5}">
                      <a16:colId xmlns:a16="http://schemas.microsoft.com/office/drawing/2014/main" val="649971893"/>
                    </a:ext>
                  </a:extLst>
                </a:gridCol>
                <a:gridCol w="1460227">
                  <a:extLst>
                    <a:ext uri="{9D8B030D-6E8A-4147-A177-3AD203B41FA5}">
                      <a16:colId xmlns:a16="http://schemas.microsoft.com/office/drawing/2014/main" val="2882275593"/>
                    </a:ext>
                  </a:extLst>
                </a:gridCol>
                <a:gridCol w="886576">
                  <a:extLst>
                    <a:ext uri="{9D8B030D-6E8A-4147-A177-3AD203B41FA5}">
                      <a16:colId xmlns:a16="http://schemas.microsoft.com/office/drawing/2014/main" val="10673039"/>
                    </a:ext>
                  </a:extLst>
                </a:gridCol>
                <a:gridCol w="4091887">
                  <a:extLst>
                    <a:ext uri="{9D8B030D-6E8A-4147-A177-3AD203B41FA5}">
                      <a16:colId xmlns:a16="http://schemas.microsoft.com/office/drawing/2014/main" val="4032726473"/>
                    </a:ext>
                  </a:extLst>
                </a:gridCol>
              </a:tblGrid>
              <a:tr h="683945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260767"/>
                  </a:ext>
                </a:extLst>
              </a:tr>
              <a:tr h="944654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DIY Raspberry Pi 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Smith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n-US" sz="1400" dirty="0"/>
                        <a:t>Provided the basic hardware setup and architecture for building a NAS using Raspberry Pi.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638121"/>
                  </a:ext>
                </a:extLst>
              </a:tr>
              <a:tr h="939471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Low-Cost NAS using RPi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Kumar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n-US" sz="1400" dirty="0"/>
                        <a:t>Informed the selection of cost-effective components and power-efficient design choices.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162834"/>
                  </a:ext>
                </a:extLst>
              </a:tr>
              <a:tr h="939471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 RAID with mdadm on Linux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K. Raj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n-US" sz="1400" dirty="0"/>
                        <a:t>Guided the implementation of RAID 1 using mdadm for redundancy and data protection.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663849"/>
                  </a:ext>
                </a:extLst>
              </a:tr>
              <a:tr h="939471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Sync with OwnCloud on RPi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Jane Doe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n-US" sz="1400" dirty="0"/>
                        <a:t>Guided the implementation of RAID 1 using mdadm for redundancy and data protection.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131161"/>
                  </a:ext>
                </a:extLst>
              </a:tr>
              <a:tr h="939471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OpenMediaVault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Performance on RPi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L. Zhang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n-US" sz="1400" dirty="0"/>
                        <a:t>Evaluated OpenMediaVault performance to select an optimal NAS management platform.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60933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3140" y="6575217"/>
            <a:ext cx="7990508" cy="28278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Bangalore Institute of Technology</a:t>
            </a:r>
          </a:p>
        </p:txBody>
      </p:sp>
      <p:sp>
        <p:nvSpPr>
          <p:cNvPr id="9" name="Title 1"/>
          <p:cNvSpPr txBox="1"/>
          <p:nvPr/>
        </p:nvSpPr>
        <p:spPr>
          <a:xfrm>
            <a:off x="8008661" y="6575217"/>
            <a:ext cx="4183339" cy="28278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Dept. of ECE, BIT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380" y="5907332"/>
            <a:ext cx="609823" cy="633346"/>
          </a:xfrm>
          <a:prstGeom prst="rect">
            <a:avLst/>
          </a:prstGeom>
        </p:spPr>
      </p:pic>
      <p:sp>
        <p:nvSpPr>
          <p:cNvPr id="7" name="Title 1"/>
          <p:cNvSpPr txBox="1"/>
          <p:nvPr/>
        </p:nvSpPr>
        <p:spPr>
          <a:xfrm>
            <a:off x="0" y="0"/>
            <a:ext cx="12191999" cy="464024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 DIAGRAM </a:t>
            </a: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076" y="819339"/>
            <a:ext cx="3015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A90D72-CFFE-A5B0-EBBE-F3D147215F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25" y="1238249"/>
            <a:ext cx="6304014" cy="48004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3140" y="6575217"/>
            <a:ext cx="7990508" cy="28278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Bangalore Institute of Technology</a:t>
            </a:r>
          </a:p>
        </p:txBody>
      </p:sp>
      <p:sp>
        <p:nvSpPr>
          <p:cNvPr id="9" name="Title 1"/>
          <p:cNvSpPr txBox="1"/>
          <p:nvPr/>
        </p:nvSpPr>
        <p:spPr>
          <a:xfrm>
            <a:off x="8008661" y="6575217"/>
            <a:ext cx="4183339" cy="28278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Dept. of ECE, BIT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380" y="5907332"/>
            <a:ext cx="609823" cy="633346"/>
          </a:xfrm>
          <a:prstGeom prst="rect">
            <a:avLst/>
          </a:prstGeom>
        </p:spPr>
      </p:pic>
      <p:sp>
        <p:nvSpPr>
          <p:cNvPr id="7" name="Title 1"/>
          <p:cNvSpPr txBox="1"/>
          <p:nvPr/>
        </p:nvSpPr>
        <p:spPr>
          <a:xfrm>
            <a:off x="16042" y="0"/>
            <a:ext cx="12191999" cy="464024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875376-2138-AFB8-A62F-A4A40EB82D7B}"/>
              </a:ext>
            </a:extLst>
          </p:cNvPr>
          <p:cNvSpPr txBox="1"/>
          <p:nvPr/>
        </p:nvSpPr>
        <p:spPr>
          <a:xfrm>
            <a:off x="1033946" y="546148"/>
            <a:ext cx="965216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1.Hardware Setup: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Connect Raspberry Pi 4/5 with external HDD/SSD via SATA-to-USB adapter.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Ensure proper power supply for external drives.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2.Operating System Installation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Install Raspberry Pi OS (Lite/Desktop) or Debian-based 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Update packages and configure SSH for remote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3.File Sharing Configuration: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Install and configure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Samba (SMB)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NFS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SFTP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LAN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Set up user permissions and shared directories.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4.RAID Configuration: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 mdadm to set up software RAID (e.g., RAID 1 for redundancy).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5.Cloud Sync Integration: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Deploy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Nextcloud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OwnCloud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backup &amp; remote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6.Security Implementation: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Enable SSH, TLS/SSL encryption, and VPN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WireGuard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/OpenVPN).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Set up firewall rules using UFW/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IPTables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7.Web Interface &amp; Expansion: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Install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OpenMediaVault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browser-based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deploying Plex/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Jellyfin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other services.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3140" y="6575217"/>
            <a:ext cx="7990508" cy="28278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Bangalore Institute of Technology</a:t>
            </a:r>
          </a:p>
        </p:txBody>
      </p:sp>
      <p:sp>
        <p:nvSpPr>
          <p:cNvPr id="9" name="Title 1"/>
          <p:cNvSpPr txBox="1"/>
          <p:nvPr/>
        </p:nvSpPr>
        <p:spPr>
          <a:xfrm>
            <a:off x="8008661" y="6575217"/>
            <a:ext cx="4183339" cy="28278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Dept. of ECE, BIT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380" y="5907332"/>
            <a:ext cx="609823" cy="633346"/>
          </a:xfrm>
          <a:prstGeom prst="rect">
            <a:avLst/>
          </a:prstGeom>
        </p:spPr>
      </p:pic>
      <p:sp>
        <p:nvSpPr>
          <p:cNvPr id="7" name="Title 1"/>
          <p:cNvSpPr txBox="1"/>
          <p:nvPr/>
        </p:nvSpPr>
        <p:spPr>
          <a:xfrm>
            <a:off x="0" y="0"/>
            <a:ext cx="12191999" cy="464024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AND SOFTWARE REQUIREMENTS</a:t>
            </a: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0" y="464185"/>
            <a:ext cx="12251690" cy="610298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spcAft>
                <a:spcPct val="60000"/>
              </a:spcAft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997441"/>
              </p:ext>
            </p:extLst>
          </p:nvPr>
        </p:nvGraphicFramePr>
        <p:xfrm>
          <a:off x="209797" y="652861"/>
          <a:ext cx="11572567" cy="505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3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9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246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b="1" dirty="0"/>
                        <a:t>SOFTWARE REQUIREMENTS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1079">
                <a:tc>
                  <a:txBody>
                    <a:bodyPr/>
                    <a:lstStyle/>
                    <a:p>
                      <a:pPr marL="742950" lvl="1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Raspberry Pi 4 / 5: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Compact and energy-efficient </a:t>
                      </a: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computing platform.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742950" lvl="1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External HDD/SDD: </a:t>
                      </a:r>
                      <a:r>
                        <a:rPr lang="en-IN" sz="16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 media for </a:t>
                      </a:r>
                      <a:r>
                        <a:rPr lang="en-IN" sz="16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NAS functionality.</a:t>
                      </a:r>
                      <a:endParaRPr lang="en-IN" sz="16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742950" lvl="1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IN" sz="1600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SATA-to-USB </a:t>
                      </a:r>
                      <a:r>
                        <a:rPr lang="en-IN" sz="1600" b="1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 Adapter: </a:t>
                      </a:r>
                      <a:r>
                        <a:rPr lang="en-IN" sz="16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Connects storage device to Raspberry Pi.</a:t>
                      </a:r>
                    </a:p>
                    <a:p>
                      <a:pPr marL="742950" lvl="1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600" b="1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MicroSD Card (32GB or higher):</a:t>
                      </a:r>
                      <a:r>
                        <a:rPr lang="en-US" sz="16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OS installation and boot.</a:t>
                      </a:r>
                      <a:r>
                        <a:rPr lang="en-US" sz="1600" b="1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742950" lvl="1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IN" sz="1600" b="1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Supply (3A USB-C): </a:t>
                      </a:r>
                      <a:r>
                        <a:rPr lang="en-US" sz="16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Required to power Raspberry Pi and peripherals.</a:t>
                      </a:r>
                    </a:p>
                    <a:p>
                      <a:pPr marL="742950" lvl="1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IN" sz="1600" b="1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Ethernet Cable / Wi-Fi Adapter: </a:t>
                      </a:r>
                      <a:r>
                        <a:rPr lang="en-IN" sz="16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Network connectivity (LAN/Internet).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42950" lvl="1" indent="-285750">
                        <a:lnSpc>
                          <a:spcPct val="2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OS: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Raspberry Pi OS / Debian Linux.</a:t>
                      </a: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NAS Management: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OpenMediaVault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 Sharing: 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Samba (SMB), NFS, SFTP, FTP.</a:t>
                      </a: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 Tools: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mdadm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rsync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cron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Sync: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Nextcloud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OwnCloud.</a:t>
                      </a: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Security: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WireGuard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OpenVPN, UFW,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IPTables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Expansion &amp; Media: 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Docker, Plex,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Jellyfin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lv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IN" sz="1600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3140" y="6575217"/>
            <a:ext cx="7990508" cy="28278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Bangalore Institute of Technology</a:t>
            </a:r>
          </a:p>
        </p:txBody>
      </p:sp>
      <p:sp>
        <p:nvSpPr>
          <p:cNvPr id="9" name="Title 1"/>
          <p:cNvSpPr txBox="1"/>
          <p:nvPr/>
        </p:nvSpPr>
        <p:spPr>
          <a:xfrm>
            <a:off x="8008661" y="6575217"/>
            <a:ext cx="4183339" cy="28278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Dept. of ECE, BIT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380" y="5907332"/>
            <a:ext cx="609823" cy="633346"/>
          </a:xfrm>
          <a:prstGeom prst="rect">
            <a:avLst/>
          </a:prstGeom>
        </p:spPr>
      </p:pic>
      <p:sp>
        <p:nvSpPr>
          <p:cNvPr id="7" name="Title 1"/>
          <p:cNvSpPr txBox="1"/>
          <p:nvPr/>
        </p:nvSpPr>
        <p:spPr>
          <a:xfrm>
            <a:off x="0" y="0"/>
            <a:ext cx="12191999" cy="464024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929147" y="909843"/>
            <a:ext cx="10333703" cy="48813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>
              <a:lnSpc>
                <a:spcPct val="150000"/>
              </a:lnSpc>
              <a:spcAft>
                <a:spcPct val="60000"/>
              </a:spcAf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Pi-Storage project successfully demonstrates a cost-effective and secure NAS solution using Raspberry Pi. It provides centralized storage with cross-platform file sharing, RAID-based redundancy, remote access via VPN, and cloud synchronization using open-source tools. With features like web-based administration and media streaming, it is well-suited for individuals, small businesses, and educational environments seeking an energy-efficient and scalable storage system.</a:t>
            </a:r>
          </a:p>
          <a:p>
            <a:pPr algn="just">
              <a:lnSpc>
                <a:spcPct val="150000"/>
              </a:lnSpc>
              <a:spcAft>
                <a:spcPct val="60000"/>
              </a:spcAf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&amp; Future Work</a:t>
            </a:r>
          </a:p>
          <a:p>
            <a:pPr marL="285750" indent="-285750" algn="just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hardware limits performance, making it less suitable for high-concurrency or enterprise-scale use.</a:t>
            </a:r>
          </a:p>
          <a:p>
            <a:pPr marL="285750" indent="-285750" algn="just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software-based RAID is supported future versions could explore hardware RAID or clustering for better reliability.</a:t>
            </a:r>
          </a:p>
          <a:p>
            <a:pPr marL="285750" indent="-285750" algn="just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manual setup and technical knowledge, a simplified web/mobile interface could improve usability.</a:t>
            </a:r>
          </a:p>
          <a:p>
            <a:pPr marL="285750" indent="-285750" algn="just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number of external drives; scalability could be enhanced using Raspberry Pi clustering or SATA expansions.</a:t>
            </a:r>
          </a:p>
          <a:p>
            <a:pPr marL="285750" indent="-285750" algn="just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depends on proper configuration future work may include blockchain integration and automated security monitoring.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3140" y="6575217"/>
            <a:ext cx="7990508" cy="28278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Bangalore Institute of Technology</a:t>
            </a:r>
          </a:p>
        </p:txBody>
      </p:sp>
      <p:sp>
        <p:nvSpPr>
          <p:cNvPr id="9" name="Title 1"/>
          <p:cNvSpPr txBox="1"/>
          <p:nvPr/>
        </p:nvSpPr>
        <p:spPr>
          <a:xfrm>
            <a:off x="8008661" y="6575217"/>
            <a:ext cx="4183339" cy="28278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Dept. of ECE, BIT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380" y="5907332"/>
            <a:ext cx="609823" cy="633346"/>
          </a:xfrm>
          <a:prstGeom prst="rect">
            <a:avLst/>
          </a:prstGeom>
        </p:spPr>
      </p:pic>
      <p:sp>
        <p:nvSpPr>
          <p:cNvPr id="7" name="Title 1"/>
          <p:cNvSpPr txBox="1"/>
          <p:nvPr/>
        </p:nvSpPr>
        <p:spPr>
          <a:xfrm>
            <a:off x="0" y="0"/>
            <a:ext cx="12191999" cy="464024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 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957018" y="1137659"/>
            <a:ext cx="10114106" cy="37784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>
              <a:lnSpc>
                <a:spcPct val="20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Smith et al., “DIY Raspberry Pi NAS,” 2020.</a:t>
            </a:r>
          </a:p>
          <a:p>
            <a:pPr algn="just">
              <a:lnSpc>
                <a:spcPct val="20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A. Kumar et al., “Low-Cost NAS using RPi,” 2021.</a:t>
            </a:r>
          </a:p>
          <a:p>
            <a:pPr algn="just">
              <a:lnSpc>
                <a:spcPct val="20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K. Raj et al., “Software RAID with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mdadm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Linux,” 2023.</a:t>
            </a:r>
          </a:p>
          <a:p>
            <a:pPr algn="just">
              <a:lnSpc>
                <a:spcPct val="20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Jane Doe et al., “Cloud Sync with OwnCloud on RPi,” 2022.</a:t>
            </a:r>
          </a:p>
          <a:p>
            <a:pPr algn="just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L. Zhang et al., “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OpenMediaVault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on RPi,” 2021.</a:t>
            </a:r>
          </a:p>
          <a:p>
            <a:pPr algn="just">
              <a:lnSpc>
                <a:spcPct val="200000"/>
              </a:lnSpc>
              <a:spcBef>
                <a:spcPts val="1000"/>
              </a:spcBef>
              <a:spcAft>
                <a:spcPts val="800"/>
              </a:spcAft>
            </a:pPr>
            <a:endParaRPr lang="en-US" altLang="en-US" b="0" i="0" dirty="0">
              <a:solidFill>
                <a:schemeClr val="tx1"/>
              </a:solidFill>
              <a:latin typeface="Times New Roman" panose="02020603050405020304" pitchFamily="18" charset="0"/>
              <a:ea typeface="DeepSeek-CJK-patch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200000"/>
              </a:lnSpc>
              <a:spcBef>
                <a:spcPts val="1000"/>
              </a:spcBef>
              <a:spcAft>
                <a:spcPts val="800"/>
              </a:spcAft>
            </a:pPr>
            <a:endParaRPr lang="en-US" altLang="en-US" b="0" i="0" dirty="0">
              <a:solidFill>
                <a:schemeClr val="tx1"/>
              </a:solidFill>
              <a:latin typeface="Times New Roman" panose="02020603050405020304" pitchFamily="18" charset="0"/>
              <a:ea typeface="DeepSeek-CJK-patch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71*379"/>
  <p:tag name="TABLE_ENDDRAG_RECT" val="146*60*671*379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1155</Words>
  <Application>Microsoft Office PowerPoint</Application>
  <PresentationFormat>Widescreen</PresentationFormat>
  <Paragraphs>166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Wingdings</vt:lpstr>
      <vt:lpstr>1_Office Theme</vt:lpstr>
      <vt:lpstr>PI-STORAGE: A COST-EFFECTIVE AND SECURE RASPBERRY PI-BASED NAS SOLUTION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Domain Representation of LTI System</dc:title>
  <dc:creator>Muralidhar Rangappa</dc:creator>
  <cp:lastModifiedBy>Aditya S Gowda</cp:lastModifiedBy>
  <cp:revision>356</cp:revision>
  <dcterms:created xsi:type="dcterms:W3CDTF">2020-03-27T05:01:00Z</dcterms:created>
  <dcterms:modified xsi:type="dcterms:W3CDTF">2025-06-10T15:02:50Z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434B901F7A5444A1A594DF5FEDFB3E5D_12</vt:lpwstr>
  </property>
  <property fmtid="{D5CDD505-2E9C-101B-9397-08002B2CF9AE}" pid="3" name="KSOProductBuildVer">
    <vt:lpwstr>1033-12.2.0.20795</vt:lpwstr>
  </property>
</Properties>
</file>