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90" r:id="rId4"/>
    <p:sldId id="291" r:id="rId5"/>
    <p:sldId id="263" r:id="rId6"/>
    <p:sldId id="282" r:id="rId7"/>
    <p:sldId id="264" r:id="rId8"/>
    <p:sldId id="266" r:id="rId9"/>
    <p:sldId id="258" r:id="rId10"/>
    <p:sldId id="287" r:id="rId11"/>
    <p:sldId id="293" r:id="rId12"/>
    <p:sldId id="286" r:id="rId13"/>
    <p:sldId id="292" r:id="rId14"/>
    <p:sldId id="288" r:id="rId15"/>
    <p:sldId id="285" r:id="rId16"/>
    <p:sldId id="259"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5D1532-B5BB-47F4-B11F-ED65109D7D50}">
          <p14:sldIdLst>
            <p14:sldId id="256"/>
            <p14:sldId id="257"/>
            <p14:sldId id="290"/>
            <p14:sldId id="291"/>
            <p14:sldId id="263"/>
            <p14:sldId id="282"/>
            <p14:sldId id="264"/>
            <p14:sldId id="266"/>
            <p14:sldId id="258"/>
            <p14:sldId id="287"/>
            <p14:sldId id="293"/>
            <p14:sldId id="286"/>
            <p14:sldId id="292"/>
            <p14:sldId id="288"/>
            <p14:sldId id="285"/>
            <p14:sldId id="259"/>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autoAdjust="0"/>
    <p:restoredTop sz="97331" autoAdjust="0"/>
  </p:normalViewPr>
  <p:slideViewPr>
    <p:cSldViewPr>
      <p:cViewPr varScale="1">
        <p:scale>
          <a:sx n="78" d="100"/>
          <a:sy n="78" d="100"/>
        </p:scale>
        <p:origin x="850"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F8AC5E-9CAD-4C24-9857-94FF97679E89}" type="datetimeFigureOut">
              <a:rPr lang="en-US" smtClean="0"/>
              <a:pPr/>
              <a:t>1/9/2026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A4CB94-D18D-47B1-B8F5-B3F702945EA7}" type="slidenum">
              <a:rPr lang="en-US" smtClean="0"/>
              <a:pPr/>
              <a:t>‹#›</a:t>
            </a:fld>
            <a:endParaRPr lang="en-US" dirty="0"/>
          </a:p>
        </p:txBody>
      </p:sp>
    </p:spTree>
    <p:extLst>
      <p:ext uri="{BB962C8B-B14F-4D97-AF65-F5344CB8AC3E}">
        <p14:creationId xmlns:p14="http://schemas.microsoft.com/office/powerpoint/2010/main" val="223026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A4CB94-D18D-47B1-B8F5-B3F702945EA7}" type="slidenum">
              <a:rPr lang="en-US" smtClean="0"/>
              <a:pPr/>
              <a:t>1</a:t>
            </a:fld>
            <a:endParaRPr lang="en-US" dirty="0"/>
          </a:p>
        </p:txBody>
      </p:sp>
    </p:spTree>
    <p:extLst>
      <p:ext uri="{BB962C8B-B14F-4D97-AF65-F5344CB8AC3E}">
        <p14:creationId xmlns:p14="http://schemas.microsoft.com/office/powerpoint/2010/main" val="982472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EA4CB94-D18D-47B1-B8F5-B3F702945EA7}"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75964-6A6E-D9D8-A46C-7E984C771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FEBE3-D108-E32A-2B79-7510FE0E548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AED624-29AB-44DC-27B4-0C10C6B44ED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F715B66-670C-A974-3754-7D07764ECBAC}"/>
              </a:ext>
            </a:extLst>
          </p:cNvPr>
          <p:cNvSpPr>
            <a:spLocks noGrp="1"/>
          </p:cNvSpPr>
          <p:nvPr>
            <p:ph type="sldNum" sz="quarter" idx="10"/>
          </p:nvPr>
        </p:nvSpPr>
        <p:spPr/>
        <p:txBody>
          <a:bodyPr/>
          <a:lstStyle/>
          <a:p>
            <a:fld id="{CEA4CB94-D18D-47B1-B8F5-B3F702945EA7}" type="slidenum">
              <a:rPr lang="en-US" smtClean="0"/>
              <a:pPr/>
              <a:t>3</a:t>
            </a:fld>
            <a:endParaRPr lang="en-US" dirty="0"/>
          </a:p>
        </p:txBody>
      </p:sp>
    </p:spTree>
    <p:extLst>
      <p:ext uri="{BB962C8B-B14F-4D97-AF65-F5344CB8AC3E}">
        <p14:creationId xmlns:p14="http://schemas.microsoft.com/office/powerpoint/2010/main" val="1822099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CD511-B168-662C-6C9A-A3CE5CA9C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33799-584A-C861-77B3-EA762A3670C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080CDE-45C4-A14D-C080-8060A124BFB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D313AAE-28E7-4F02-5DCC-4DF3CE1D269B}"/>
              </a:ext>
            </a:extLst>
          </p:cNvPr>
          <p:cNvSpPr>
            <a:spLocks noGrp="1"/>
          </p:cNvSpPr>
          <p:nvPr>
            <p:ph type="sldNum" sz="quarter" idx="10"/>
          </p:nvPr>
        </p:nvSpPr>
        <p:spPr/>
        <p:txBody>
          <a:bodyPr/>
          <a:lstStyle/>
          <a:p>
            <a:fld id="{CEA4CB94-D18D-47B1-B8F5-B3F702945EA7}" type="slidenum">
              <a:rPr lang="en-US" smtClean="0"/>
              <a:pPr/>
              <a:t>4</a:t>
            </a:fld>
            <a:endParaRPr lang="en-US" dirty="0"/>
          </a:p>
        </p:txBody>
      </p:sp>
    </p:spTree>
    <p:extLst>
      <p:ext uri="{BB962C8B-B14F-4D97-AF65-F5344CB8AC3E}">
        <p14:creationId xmlns:p14="http://schemas.microsoft.com/office/powerpoint/2010/main" val="657964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dirty="0"/>
              <a:t>EXPECTED  RESULTS</a:t>
            </a:r>
          </a:p>
        </p:txBody>
      </p:sp>
      <p:sp>
        <p:nvSpPr>
          <p:cNvPr id="4" name="Slide Number Placeholder 3"/>
          <p:cNvSpPr>
            <a:spLocks noGrp="1"/>
          </p:cNvSpPr>
          <p:nvPr>
            <p:ph type="sldNum" sz="quarter" idx="10"/>
          </p:nvPr>
        </p:nvSpPr>
        <p:spPr/>
        <p:txBody>
          <a:bodyPr/>
          <a:lstStyle/>
          <a:p>
            <a:fld id="{CEA4CB94-D18D-47B1-B8F5-B3F702945EA7}" type="slidenum">
              <a:rPr lang="en-US" smtClean="0"/>
              <a:pPr/>
              <a:t>5</a:t>
            </a:fld>
            <a:endParaRPr lang="en-US" dirty="0"/>
          </a:p>
        </p:txBody>
      </p:sp>
    </p:spTree>
    <p:extLst>
      <p:ext uri="{BB962C8B-B14F-4D97-AF65-F5344CB8AC3E}">
        <p14:creationId xmlns:p14="http://schemas.microsoft.com/office/powerpoint/2010/main" val="3614722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71139-DDE4-C5B6-526C-C8DBBA973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DAF32-02F9-1E00-11A7-F276147BEB2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3C307E-912A-1658-8CF1-17C942A501A5}"/>
              </a:ext>
            </a:extLst>
          </p:cNvPr>
          <p:cNvSpPr>
            <a:spLocks noGrp="1"/>
          </p:cNvSpPr>
          <p:nvPr>
            <p:ph type="body" idx="1"/>
          </p:nvPr>
        </p:nvSpPr>
        <p:spPr/>
        <p:txBody>
          <a:bodyPr>
            <a:normAutofit/>
          </a:bodyPr>
          <a:lstStyle/>
          <a:p>
            <a:r>
              <a:rPr lang="en-US" dirty="0"/>
              <a:t>EXPECTED  RESULTS</a:t>
            </a:r>
          </a:p>
        </p:txBody>
      </p:sp>
      <p:sp>
        <p:nvSpPr>
          <p:cNvPr id="4" name="Slide Number Placeholder 3">
            <a:extLst>
              <a:ext uri="{FF2B5EF4-FFF2-40B4-BE49-F238E27FC236}">
                <a16:creationId xmlns:a16="http://schemas.microsoft.com/office/drawing/2014/main" id="{11C56FDF-D095-C8ED-3E50-9D69AC819736}"/>
              </a:ext>
            </a:extLst>
          </p:cNvPr>
          <p:cNvSpPr>
            <a:spLocks noGrp="1"/>
          </p:cNvSpPr>
          <p:nvPr>
            <p:ph type="sldNum" sz="quarter" idx="10"/>
          </p:nvPr>
        </p:nvSpPr>
        <p:spPr/>
        <p:txBody>
          <a:bodyPr/>
          <a:lstStyle/>
          <a:p>
            <a:fld id="{CEA4CB94-D18D-47B1-B8F5-B3F702945EA7}" type="slidenum">
              <a:rPr lang="en-US" smtClean="0"/>
              <a:pPr/>
              <a:t>6</a:t>
            </a:fld>
            <a:endParaRPr lang="en-US" dirty="0"/>
          </a:p>
        </p:txBody>
      </p:sp>
    </p:spTree>
    <p:extLst>
      <p:ext uri="{BB962C8B-B14F-4D97-AF65-F5344CB8AC3E}">
        <p14:creationId xmlns:p14="http://schemas.microsoft.com/office/powerpoint/2010/main" val="1157186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LITERATURE SURVEY</a:t>
            </a:r>
          </a:p>
        </p:txBody>
      </p:sp>
      <p:sp>
        <p:nvSpPr>
          <p:cNvPr id="4" name="Slide Number Placeholder 3"/>
          <p:cNvSpPr>
            <a:spLocks noGrp="1"/>
          </p:cNvSpPr>
          <p:nvPr>
            <p:ph type="sldNum" sz="quarter" idx="5"/>
          </p:nvPr>
        </p:nvSpPr>
        <p:spPr/>
        <p:txBody>
          <a:bodyPr/>
          <a:lstStyle/>
          <a:p>
            <a:fld id="{CEA4CB94-D18D-47B1-B8F5-B3F702945EA7}" type="slidenum">
              <a:rPr lang="en-US" smtClean="0"/>
              <a:pPr/>
              <a:t>7</a:t>
            </a:fld>
            <a:endParaRPr lang="en-US" dirty="0"/>
          </a:p>
        </p:txBody>
      </p:sp>
    </p:spTree>
    <p:extLst>
      <p:ext uri="{BB962C8B-B14F-4D97-AF65-F5344CB8AC3E}">
        <p14:creationId xmlns:p14="http://schemas.microsoft.com/office/powerpoint/2010/main" val="3960862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LITERATURE SURVEY</a:t>
            </a:r>
          </a:p>
        </p:txBody>
      </p:sp>
      <p:sp>
        <p:nvSpPr>
          <p:cNvPr id="4" name="Slide Number Placeholder 3"/>
          <p:cNvSpPr>
            <a:spLocks noGrp="1"/>
          </p:cNvSpPr>
          <p:nvPr>
            <p:ph type="sldNum" sz="quarter" idx="5"/>
          </p:nvPr>
        </p:nvSpPr>
        <p:spPr/>
        <p:txBody>
          <a:bodyPr/>
          <a:lstStyle/>
          <a:p>
            <a:fld id="{CEA4CB94-D18D-47B1-B8F5-B3F702945EA7}" type="slidenum">
              <a:rPr lang="en-US" smtClean="0"/>
              <a:pPr/>
              <a:t>8</a:t>
            </a:fld>
            <a:endParaRPr lang="en-US" dirty="0"/>
          </a:p>
        </p:txBody>
      </p:sp>
    </p:spTree>
    <p:extLst>
      <p:ext uri="{BB962C8B-B14F-4D97-AF65-F5344CB8AC3E}">
        <p14:creationId xmlns:p14="http://schemas.microsoft.com/office/powerpoint/2010/main" val="1324378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EA4CB94-D18D-47B1-B8F5-B3F702945EA7}"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8E410-9907-995C-22AD-22DAFDA4A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BCF25-BDCA-6A1B-FD85-6AC434FE45B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E21B2B-ECA6-E2B1-F925-B34D445505A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4D47B36-5B6C-4B1C-9539-89464565DF25}"/>
              </a:ext>
            </a:extLst>
          </p:cNvPr>
          <p:cNvSpPr>
            <a:spLocks noGrp="1"/>
          </p:cNvSpPr>
          <p:nvPr>
            <p:ph type="sldNum" sz="quarter" idx="10"/>
          </p:nvPr>
        </p:nvSpPr>
        <p:spPr/>
        <p:txBody>
          <a:bodyPr/>
          <a:lstStyle/>
          <a:p>
            <a:fld id="{CEA4CB94-D18D-47B1-B8F5-B3F702945EA7}" type="slidenum">
              <a:rPr lang="en-US" smtClean="0"/>
              <a:pPr/>
              <a:t>10</a:t>
            </a:fld>
            <a:endParaRPr lang="en-US" dirty="0"/>
          </a:p>
        </p:txBody>
      </p:sp>
    </p:spTree>
    <p:extLst>
      <p:ext uri="{BB962C8B-B14F-4D97-AF65-F5344CB8AC3E}">
        <p14:creationId xmlns:p14="http://schemas.microsoft.com/office/powerpoint/2010/main" val="304112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8E410-9907-995C-22AD-22DAFDA4A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BCF25-BDCA-6A1B-FD85-6AC434FE45B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E21B2B-ECA6-E2B1-F925-B34D445505A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4D47B36-5B6C-4B1C-9539-89464565DF25}"/>
              </a:ext>
            </a:extLst>
          </p:cNvPr>
          <p:cNvSpPr>
            <a:spLocks noGrp="1"/>
          </p:cNvSpPr>
          <p:nvPr>
            <p:ph type="sldNum" sz="quarter" idx="10"/>
          </p:nvPr>
        </p:nvSpPr>
        <p:spPr/>
        <p:txBody>
          <a:bodyPr/>
          <a:lstStyle/>
          <a:p>
            <a:fld id="{CEA4CB94-D18D-47B1-B8F5-B3F702945EA7}" type="slidenum">
              <a:rPr lang="en-US" smtClean="0"/>
              <a:pPr/>
              <a:t>11</a:t>
            </a:fld>
            <a:endParaRPr lang="en-US" dirty="0"/>
          </a:p>
        </p:txBody>
      </p:sp>
    </p:spTree>
    <p:extLst>
      <p:ext uri="{BB962C8B-B14F-4D97-AF65-F5344CB8AC3E}">
        <p14:creationId xmlns:p14="http://schemas.microsoft.com/office/powerpoint/2010/main" val="3417119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52620-84DB-F6FA-603C-01FD86301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C7D21-45DF-61A5-565E-3CC73DF6A58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B2C167-42E8-5479-5978-AE61D19BDCC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5E7F78B-B538-0640-6A5B-ADCDCE86A5A0}"/>
              </a:ext>
            </a:extLst>
          </p:cNvPr>
          <p:cNvSpPr>
            <a:spLocks noGrp="1"/>
          </p:cNvSpPr>
          <p:nvPr>
            <p:ph type="sldNum" sz="quarter" idx="10"/>
          </p:nvPr>
        </p:nvSpPr>
        <p:spPr/>
        <p:txBody>
          <a:bodyPr/>
          <a:lstStyle/>
          <a:p>
            <a:fld id="{CEA4CB94-D18D-47B1-B8F5-B3F702945EA7}" type="slidenum">
              <a:rPr lang="en-US" smtClean="0"/>
              <a:pPr/>
              <a:t>12</a:t>
            </a:fld>
            <a:endParaRPr lang="en-US" dirty="0"/>
          </a:p>
        </p:txBody>
      </p:sp>
    </p:spTree>
    <p:extLst>
      <p:ext uri="{BB962C8B-B14F-4D97-AF65-F5344CB8AC3E}">
        <p14:creationId xmlns:p14="http://schemas.microsoft.com/office/powerpoint/2010/main" val="3994751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976C3-5F55-5340-CD69-76C3A281E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67938-B31C-B982-3630-7E078AD247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0609AB0-6704-6386-FF22-31D72820A0F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8E86F2C-79B6-A60B-87AC-743E0983D8A5}"/>
              </a:ext>
            </a:extLst>
          </p:cNvPr>
          <p:cNvSpPr>
            <a:spLocks noGrp="1"/>
          </p:cNvSpPr>
          <p:nvPr>
            <p:ph type="sldNum" sz="quarter" idx="10"/>
          </p:nvPr>
        </p:nvSpPr>
        <p:spPr/>
        <p:txBody>
          <a:bodyPr/>
          <a:lstStyle/>
          <a:p>
            <a:fld id="{CEA4CB94-D18D-47B1-B8F5-B3F702945EA7}" type="slidenum">
              <a:rPr lang="en-US" smtClean="0"/>
              <a:pPr/>
              <a:t>13</a:t>
            </a:fld>
            <a:endParaRPr lang="en-US" dirty="0"/>
          </a:p>
        </p:txBody>
      </p:sp>
    </p:spTree>
    <p:extLst>
      <p:ext uri="{BB962C8B-B14F-4D97-AF65-F5344CB8AC3E}">
        <p14:creationId xmlns:p14="http://schemas.microsoft.com/office/powerpoint/2010/main" val="3017260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83CF-8106-8D7A-2850-A6582E153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62496-48C4-6864-B8D0-1ADD1667697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52CB6C1-7C2C-6E26-1848-B90E53295AC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1B57790-49DF-31B1-9CE1-FD45656B485E}"/>
              </a:ext>
            </a:extLst>
          </p:cNvPr>
          <p:cNvSpPr>
            <a:spLocks noGrp="1"/>
          </p:cNvSpPr>
          <p:nvPr>
            <p:ph type="sldNum" sz="quarter" idx="10"/>
          </p:nvPr>
        </p:nvSpPr>
        <p:spPr/>
        <p:txBody>
          <a:bodyPr/>
          <a:lstStyle/>
          <a:p>
            <a:fld id="{CEA4CB94-D18D-47B1-B8F5-B3F702945EA7}" type="slidenum">
              <a:rPr lang="en-US" smtClean="0"/>
              <a:pPr/>
              <a:t>14</a:t>
            </a:fld>
            <a:endParaRPr lang="en-US" dirty="0"/>
          </a:p>
        </p:txBody>
      </p:sp>
    </p:spTree>
    <p:extLst>
      <p:ext uri="{BB962C8B-B14F-4D97-AF65-F5344CB8AC3E}">
        <p14:creationId xmlns:p14="http://schemas.microsoft.com/office/powerpoint/2010/main" val="3872298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84F8-61B4-DE3B-80C2-4DE26EA01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D0488-4BD3-5AB4-FBF7-1B7D922CF00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14A59F-F195-1B17-2CAF-8F760E260B3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28B5E0A-3704-9651-18B5-264E7D4E2852}"/>
              </a:ext>
            </a:extLst>
          </p:cNvPr>
          <p:cNvSpPr>
            <a:spLocks noGrp="1"/>
          </p:cNvSpPr>
          <p:nvPr>
            <p:ph type="sldNum" sz="quarter" idx="10"/>
          </p:nvPr>
        </p:nvSpPr>
        <p:spPr/>
        <p:txBody>
          <a:bodyPr/>
          <a:lstStyle/>
          <a:p>
            <a:fld id="{CEA4CB94-D18D-47B1-B8F5-B3F702945EA7}" type="slidenum">
              <a:rPr lang="en-US" smtClean="0"/>
              <a:pPr/>
              <a:t>15</a:t>
            </a:fld>
            <a:endParaRPr lang="en-US" dirty="0"/>
          </a:p>
        </p:txBody>
      </p:sp>
    </p:spTree>
    <p:extLst>
      <p:ext uri="{BB962C8B-B14F-4D97-AF65-F5344CB8AC3E}">
        <p14:creationId xmlns:p14="http://schemas.microsoft.com/office/powerpoint/2010/main" val="365421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3" name="Rectangle 2"/>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4" name="Rectangle 3"/>
          <p:cNvSpPr/>
          <p:nvPr/>
        </p:nvSpPr>
        <p:spPr>
          <a:xfrm>
            <a:off x="1534886" y="1559242"/>
            <a:ext cx="9144000" cy="786879"/>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1"/>
                </a:solidFill>
                <a:latin typeface="Times New Roman" panose="02020603050405020304" pitchFamily="18" charset="0"/>
                <a:cs typeface="Times New Roman" panose="02020603050405020304" pitchFamily="18" charset="0"/>
              </a:rPr>
              <a:t>PI – NAS : Network Attached Storage</a:t>
            </a:r>
          </a:p>
        </p:txBody>
      </p:sp>
      <p:sp>
        <p:nvSpPr>
          <p:cNvPr id="5" name="Rectangle 4"/>
          <p:cNvSpPr/>
          <p:nvPr/>
        </p:nvSpPr>
        <p:spPr>
          <a:xfrm>
            <a:off x="1524001" y="3048000"/>
            <a:ext cx="4571999" cy="289413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PRESENTED BY:</a:t>
            </a:r>
          </a:p>
          <a:p>
            <a:endParaRPr lang="en-US"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NAME: Abhishek Agarwal</a:t>
            </a:r>
          </a:p>
          <a:p>
            <a:r>
              <a:rPr lang="en-US" sz="2000" b="1" dirty="0">
                <a:solidFill>
                  <a:schemeClr val="tx1"/>
                </a:solidFill>
                <a:latin typeface="Times New Roman" panose="02020603050405020304" pitchFamily="18" charset="0"/>
                <a:cs typeface="Times New Roman" panose="02020603050405020304" pitchFamily="18" charset="0"/>
              </a:rPr>
              <a:t>USN: 1BI22EC003</a:t>
            </a:r>
          </a:p>
          <a:p>
            <a:r>
              <a:rPr lang="en-US" sz="2000" b="1" dirty="0">
                <a:solidFill>
                  <a:schemeClr val="tx1"/>
                </a:solidFill>
                <a:latin typeface="Times New Roman" panose="02020603050405020304" pitchFamily="18" charset="0"/>
                <a:cs typeface="Times New Roman" panose="02020603050405020304" pitchFamily="18" charset="0"/>
              </a:rPr>
              <a:t>NAME: Aditya S Gowda</a:t>
            </a:r>
          </a:p>
          <a:p>
            <a:r>
              <a:rPr lang="en-US" sz="2000" b="1" dirty="0">
                <a:solidFill>
                  <a:schemeClr val="tx1"/>
                </a:solidFill>
                <a:latin typeface="Times New Roman" panose="02020603050405020304" pitchFamily="18" charset="0"/>
                <a:cs typeface="Times New Roman" panose="02020603050405020304" pitchFamily="18" charset="0"/>
              </a:rPr>
              <a:t>USN: 1BI22EC007</a:t>
            </a:r>
          </a:p>
          <a:p>
            <a:r>
              <a:rPr lang="en-US" sz="2000" b="1" dirty="0">
                <a:solidFill>
                  <a:schemeClr val="tx1"/>
                </a:solidFill>
                <a:latin typeface="Times New Roman" panose="02020603050405020304" pitchFamily="18" charset="0"/>
                <a:cs typeface="Times New Roman" panose="02020603050405020304" pitchFamily="18" charset="0"/>
              </a:rPr>
              <a:t>NAME: Aditya Umesh</a:t>
            </a:r>
          </a:p>
          <a:p>
            <a:r>
              <a:rPr lang="en-US" sz="2000" b="1" dirty="0">
                <a:solidFill>
                  <a:schemeClr val="tx1"/>
                </a:solidFill>
                <a:latin typeface="Times New Roman" panose="02020603050405020304" pitchFamily="18" charset="0"/>
                <a:cs typeface="Times New Roman" panose="02020603050405020304" pitchFamily="18" charset="0"/>
              </a:rPr>
              <a:t>USN: 1BI22EC008</a:t>
            </a:r>
          </a:p>
          <a:p>
            <a:r>
              <a:rPr lang="en-US" sz="2000" b="1" dirty="0">
                <a:solidFill>
                  <a:schemeClr val="tx1"/>
                </a:solidFill>
                <a:latin typeface="Times New Roman" panose="02020603050405020304" pitchFamily="18" charset="0"/>
                <a:cs typeface="Times New Roman" panose="02020603050405020304" pitchFamily="18" charset="0"/>
              </a:rPr>
              <a:t>NAME: Amruth Shirin KH</a:t>
            </a:r>
          </a:p>
          <a:p>
            <a:r>
              <a:rPr lang="en-US" sz="2000" b="1" dirty="0">
                <a:solidFill>
                  <a:schemeClr val="tx1"/>
                </a:solidFill>
                <a:latin typeface="Times New Roman" panose="02020603050405020304" pitchFamily="18" charset="0"/>
                <a:cs typeface="Times New Roman" panose="02020603050405020304" pitchFamily="18" charset="0"/>
              </a:rPr>
              <a:t>USN: 1BI22EC012</a:t>
            </a:r>
          </a:p>
          <a:p>
            <a:endParaRPr lang="en-US" sz="2000"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2765" y="517439"/>
            <a:ext cx="828501" cy="958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53836" y="451744"/>
            <a:ext cx="997527" cy="997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346069" y="776680"/>
            <a:ext cx="7910946" cy="430887"/>
          </a:xfrm>
          <a:prstGeom prst="rect">
            <a:avLst/>
          </a:prstGeom>
          <a:noFill/>
        </p:spPr>
        <p:txBody>
          <a:bodyPr wrap="square" rtlCol="0">
            <a:spAutoFit/>
          </a:bodyPr>
          <a:lstStyle/>
          <a:p>
            <a:r>
              <a:rPr lang="en-US" sz="2200" b="1" dirty="0">
                <a:solidFill>
                  <a:srgbClr val="C00000"/>
                </a:solidFill>
                <a:latin typeface="Times New Roman" panose="02020603050405020304" pitchFamily="18" charset="0"/>
                <a:cs typeface="Times New Roman" panose="02020603050405020304" pitchFamily="18" charset="0"/>
              </a:rPr>
              <a:t>MAJOR PROJECT </a:t>
            </a:r>
            <a:r>
              <a:rPr lang="en-US" sz="2200" b="1" dirty="0">
                <a:solidFill>
                  <a:srgbClr val="0070C0"/>
                </a:solidFill>
                <a:latin typeface="Times New Roman" panose="02020603050405020304" pitchFamily="18" charset="0"/>
                <a:cs typeface="Times New Roman" panose="02020603050405020304" pitchFamily="18" charset="0"/>
              </a:rPr>
              <a:t>PHASE-II,REVIEW-I</a:t>
            </a:r>
            <a:r>
              <a:rPr lang="en-US" sz="2200" b="1" dirty="0">
                <a:solidFill>
                  <a:srgbClr val="C00000"/>
                </a:solidFill>
                <a:latin typeface="Times New Roman" panose="02020603050405020304" pitchFamily="18" charset="0"/>
                <a:cs typeface="Times New Roman" panose="02020603050405020304" pitchFamily="18" charset="0"/>
              </a:rPr>
              <a:t>  PRESENTATION</a:t>
            </a:r>
          </a:p>
        </p:txBody>
      </p:sp>
      <p:sp>
        <p:nvSpPr>
          <p:cNvPr id="10" name="Rectangle 9"/>
          <p:cNvSpPr/>
          <p:nvPr/>
        </p:nvSpPr>
        <p:spPr>
          <a:xfrm>
            <a:off x="6106886" y="3049470"/>
            <a:ext cx="4648200" cy="289413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UNDER THE GUIDANCE OF:</a:t>
            </a:r>
          </a:p>
          <a:p>
            <a:pPr algn="ctr"/>
            <a:endParaRPr lang="en-US" sz="2000" b="1" dirty="0">
              <a:solidFill>
                <a:schemeClr val="tx1"/>
              </a:solidFill>
              <a:latin typeface="Times New Roman" panose="02020603050405020304" pitchFamily="18" charset="0"/>
              <a:cs typeface="Times New Roman" panose="02020603050405020304" pitchFamily="18" charset="0"/>
            </a:endParaRPr>
          </a:p>
          <a:p>
            <a:pPr algn="ctr"/>
            <a:r>
              <a:rPr lang="en-US" sz="2000" b="1" dirty="0">
                <a:solidFill>
                  <a:schemeClr val="tx1"/>
                </a:solidFill>
                <a:latin typeface="Times New Roman" panose="02020603050405020304" pitchFamily="18" charset="0"/>
                <a:cs typeface="Times New Roman" panose="02020603050405020304" pitchFamily="18" charset="0"/>
              </a:rPr>
              <a:t>PROF Likhitha K</a:t>
            </a:r>
          </a:p>
          <a:p>
            <a:pPr algn="ctr"/>
            <a:r>
              <a:rPr lang="en-US" sz="2000" b="1" dirty="0">
                <a:solidFill>
                  <a:schemeClr val="tx1"/>
                </a:solidFill>
                <a:latin typeface="Times New Roman" panose="02020603050405020304" pitchFamily="18" charset="0"/>
                <a:cs typeface="Times New Roman" panose="02020603050405020304" pitchFamily="18" charset="0"/>
              </a:rPr>
              <a:t>ASSISTANT PROFESSOR</a:t>
            </a:r>
          </a:p>
          <a:p>
            <a:pPr algn="ctr"/>
            <a:r>
              <a:rPr lang="en-US" sz="2000" b="1" dirty="0">
                <a:solidFill>
                  <a:schemeClr val="tx1"/>
                </a:solidFill>
                <a:latin typeface="Times New Roman" panose="02020603050405020304" pitchFamily="18" charset="0"/>
                <a:cs typeface="Times New Roman" panose="02020603050405020304" pitchFamily="18" charset="0"/>
              </a:rPr>
              <a:t>DEPT. OF ECE</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B88D461-9EBC-6409-DA2D-CBA2B9857968}"/>
              </a:ext>
            </a:extLst>
          </p:cNvPr>
          <p:cNvSpPr txBox="1"/>
          <p:nvPr/>
        </p:nvSpPr>
        <p:spPr>
          <a:xfrm>
            <a:off x="6019800" y="2513130"/>
            <a:ext cx="33528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PRESENTED ON: 09/01/2026</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94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3" name="TextBox 2">
            <a:extLst>
              <a:ext uri="{FF2B5EF4-FFF2-40B4-BE49-F238E27FC236}">
                <a16:creationId xmlns:a16="http://schemas.microsoft.com/office/drawing/2014/main" id="{393F0FE1-AC2B-40F3-AA4E-7FB09D79BFEC}"/>
              </a:ext>
            </a:extLst>
          </p:cNvPr>
          <p:cNvSpPr txBox="1"/>
          <p:nvPr/>
        </p:nvSpPr>
        <p:spPr>
          <a:xfrm>
            <a:off x="3657600" y="838200"/>
            <a:ext cx="51816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INSTITUTE VISION AND MISSION</a:t>
            </a:r>
            <a:endParaRPr lang="en-IN" sz="2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8408670-3B9C-F5CE-FAF1-F47121098311}"/>
              </a:ext>
            </a:extLst>
          </p:cNvPr>
          <p:cNvSpPr txBox="1"/>
          <p:nvPr/>
        </p:nvSpPr>
        <p:spPr>
          <a:xfrm>
            <a:off x="1371600" y="1646872"/>
            <a:ext cx="9448800" cy="1477328"/>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algn="just" fontAlgn="b"/>
            <a:r>
              <a:rPr lang="en-US" b="1" dirty="0">
                <a:latin typeface="Times New Roman" pitchFamily="18" charset="0"/>
                <a:cs typeface="Times New Roman" pitchFamily="18" charset="0"/>
              </a:rPr>
              <a:t>Vision</a:t>
            </a:r>
          </a:p>
          <a:p>
            <a:pPr algn="just" fontAlgn="b"/>
            <a:r>
              <a:rPr lang="en-US" dirty="0">
                <a:latin typeface="Times New Roman" pitchFamily="18" charset="0"/>
                <a:cs typeface="Times New Roman" pitchFamily="18" charset="0"/>
              </a:rPr>
              <a:t>To establish and develop the Institute as a center of higher learning, ever abreast with the expanding horizon of knowledge in the field of engineering and technology, with entrepreneurial thinking, leadership excellence for life-long success, and the ability to solve societal problems.</a:t>
            </a:r>
            <a:endParaRPr lang="en-US" b="1" u="sng" dirty="0">
              <a:latin typeface="Times New Roman" pitchFamily="18" charset="0"/>
              <a:cs typeface="Times New Roman" pitchFamily="18" charset="0"/>
            </a:endParaRPr>
          </a:p>
          <a:p>
            <a:endParaRPr lang="en-IN" dirty="0"/>
          </a:p>
        </p:txBody>
      </p:sp>
      <p:sp>
        <p:nvSpPr>
          <p:cNvPr id="10" name="TextBox 9">
            <a:extLst>
              <a:ext uri="{FF2B5EF4-FFF2-40B4-BE49-F238E27FC236}">
                <a16:creationId xmlns:a16="http://schemas.microsoft.com/office/drawing/2014/main" id="{B3D8D80D-4A69-90DC-99A4-A0C05CF6F1A2}"/>
              </a:ext>
            </a:extLst>
          </p:cNvPr>
          <p:cNvSpPr txBox="1"/>
          <p:nvPr/>
        </p:nvSpPr>
        <p:spPr>
          <a:xfrm>
            <a:off x="1362269" y="3581400"/>
            <a:ext cx="9448800" cy="2585323"/>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fontAlgn="b"/>
            <a:r>
              <a:rPr lang="en-US" b="1" dirty="0">
                <a:latin typeface="Times New Roman" pitchFamily="18" charset="0"/>
                <a:cs typeface="Times New Roman" pitchFamily="18" charset="0"/>
              </a:rPr>
              <a:t>Mission</a:t>
            </a:r>
          </a:p>
          <a:p>
            <a:pPr algn="just" fontAlgn="b"/>
            <a:r>
              <a:rPr lang="en-US" dirty="0">
                <a:latin typeface="Times New Roman" pitchFamily="18" charset="0"/>
                <a:cs typeface="Times New Roman" pitchFamily="18" charset="0"/>
              </a:rPr>
              <a:t>Provide high-quality education in the engineering disciplines from the undergraduate through doctoral levels with creative academic and professional programs. Develop the Institute as a leader in science, engineering, technology, and management, research, and apply knowledge for the benefit of society. Establish mutually beneficial partnerships with industry, alumni, local, state, and central governments by public service assistance and collaborative research. Inculcate personality development through sports, cultural, and extracurricular activities and engage in the social, economic, and professional challenges.</a:t>
            </a:r>
            <a:endParaRPr lang="en-US" b="1" u="sng"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1480960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0AEBE-F83F-84F0-FF6B-BCA1F7ED97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F6D3497-4E9B-A41F-7F11-520A88208A07}"/>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F102C6A9-F069-75E4-63A5-8819A5D8181B}"/>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3" name="TextBox 2">
            <a:extLst>
              <a:ext uri="{FF2B5EF4-FFF2-40B4-BE49-F238E27FC236}">
                <a16:creationId xmlns:a16="http://schemas.microsoft.com/office/drawing/2014/main" id="{E2D94350-FD4A-5EC0-659B-0297203C4A13}"/>
              </a:ext>
            </a:extLst>
          </p:cNvPr>
          <p:cNvSpPr txBox="1"/>
          <p:nvPr/>
        </p:nvSpPr>
        <p:spPr>
          <a:xfrm>
            <a:off x="1104900" y="405296"/>
            <a:ext cx="99822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DEPARTMENT VISION , MISSION, PEOs, PSOs</a:t>
            </a:r>
            <a:endParaRPr lang="en-IN"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BBD55F2-AB1A-F105-3705-EA0C182E36EB}"/>
              </a:ext>
            </a:extLst>
          </p:cNvPr>
          <p:cNvSpPr txBox="1"/>
          <p:nvPr/>
        </p:nvSpPr>
        <p:spPr>
          <a:xfrm>
            <a:off x="836645" y="797495"/>
            <a:ext cx="10668000" cy="1061829"/>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algn="just" fontAlgn="b"/>
            <a:r>
              <a:rPr lang="en-US" sz="1500" b="1" dirty="0">
                <a:latin typeface="Times New Roman" pitchFamily="18" charset="0"/>
                <a:cs typeface="Times New Roman" pitchFamily="18" charset="0"/>
              </a:rPr>
              <a:t>Vision</a:t>
            </a:r>
          </a:p>
          <a:p>
            <a:pPr algn="just" fontAlgn="b"/>
            <a:r>
              <a:rPr lang="en-US" sz="1500" dirty="0">
                <a:latin typeface="Times New Roman" pitchFamily="18" charset="0"/>
                <a:cs typeface="Times New Roman" pitchFamily="18" charset="0"/>
              </a:rPr>
              <a:t>Imparting Quality Education to achieve Academic Excellence in Electronics and Communication Engineering for Global Competent Engineers.</a:t>
            </a:r>
          </a:p>
          <a:p>
            <a:endParaRPr lang="en-IN" dirty="0"/>
          </a:p>
        </p:txBody>
      </p:sp>
      <p:sp>
        <p:nvSpPr>
          <p:cNvPr id="9" name="TextBox 8">
            <a:extLst>
              <a:ext uri="{FF2B5EF4-FFF2-40B4-BE49-F238E27FC236}">
                <a16:creationId xmlns:a16="http://schemas.microsoft.com/office/drawing/2014/main" id="{032D7DBE-8A93-F884-8A1D-ED393E2A4B34}"/>
              </a:ext>
            </a:extLst>
          </p:cNvPr>
          <p:cNvSpPr txBox="1"/>
          <p:nvPr/>
        </p:nvSpPr>
        <p:spPr>
          <a:xfrm>
            <a:off x="833535" y="1962781"/>
            <a:ext cx="10668000" cy="1015663"/>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algn="just" fontAlgn="b"/>
            <a:r>
              <a:rPr lang="en-US" sz="1500" b="1" dirty="0">
                <a:latin typeface="Times New Roman" pitchFamily="18" charset="0"/>
                <a:cs typeface="Times New Roman" pitchFamily="18" charset="0"/>
              </a:rPr>
              <a:t>Mission</a:t>
            </a:r>
          </a:p>
          <a:p>
            <a:pPr lvl="0" algn="just"/>
            <a:r>
              <a:rPr lang="en-US" sz="1500" dirty="0">
                <a:latin typeface="Times New Roman" pitchFamily="18" charset="0"/>
                <a:cs typeface="Times New Roman" pitchFamily="18" charset="0"/>
              </a:rPr>
              <a:t>Create state of art infrastructure for quality education.</a:t>
            </a:r>
          </a:p>
          <a:p>
            <a:pPr lvl="0" algn="just"/>
            <a:r>
              <a:rPr lang="en-US" sz="1500" dirty="0">
                <a:latin typeface="Times New Roman" pitchFamily="18" charset="0"/>
                <a:cs typeface="Times New Roman" pitchFamily="18" charset="0"/>
              </a:rPr>
              <a:t>Nurture innovative concepts and problem solving skills.</a:t>
            </a:r>
          </a:p>
          <a:p>
            <a:pPr lvl="0" algn="just"/>
            <a:r>
              <a:rPr lang="en-US" sz="1500" dirty="0">
                <a:latin typeface="Times New Roman" pitchFamily="18" charset="0"/>
                <a:cs typeface="Times New Roman" pitchFamily="18" charset="0"/>
              </a:rPr>
              <a:t>Delivering Professional Engineers to meet the societal needs.</a:t>
            </a:r>
            <a:endParaRPr lang="en-IN" sz="1500" dirty="0"/>
          </a:p>
        </p:txBody>
      </p:sp>
      <p:sp>
        <p:nvSpPr>
          <p:cNvPr id="10" name="TextBox 9">
            <a:extLst>
              <a:ext uri="{FF2B5EF4-FFF2-40B4-BE49-F238E27FC236}">
                <a16:creationId xmlns:a16="http://schemas.microsoft.com/office/drawing/2014/main" id="{0A8FEEBB-11DE-103F-2F8E-E95478DB1E90}"/>
              </a:ext>
            </a:extLst>
          </p:cNvPr>
          <p:cNvSpPr txBox="1"/>
          <p:nvPr/>
        </p:nvSpPr>
        <p:spPr>
          <a:xfrm>
            <a:off x="833535" y="3094726"/>
            <a:ext cx="10668000" cy="1569660"/>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algn="just" fontAlgn="b"/>
            <a:r>
              <a:rPr lang="en-US" sz="1500" b="1" dirty="0">
                <a:latin typeface="Times New Roman" pitchFamily="18" charset="0"/>
                <a:cs typeface="Times New Roman" pitchFamily="18" charset="0"/>
              </a:rPr>
              <a:t>PEOs</a:t>
            </a:r>
          </a:p>
          <a:p>
            <a:pPr algn="just" fontAlgn="b"/>
            <a:r>
              <a:rPr lang="en-US" sz="1500" dirty="0">
                <a:latin typeface="Times New Roman" pitchFamily="18" charset="0"/>
                <a:cs typeface="Times New Roman" pitchFamily="18" charset="0"/>
              </a:rPr>
              <a:t>Prepare graduates to be professionals, practicing engineers, and entrepreneurs in the field of Electronics and Communication. Acquire sufficient knowledge for innovative techniques in the design and development of systems, and compete globally in multidisciplinary fields. Achieve personal and professional success with awareness and commitment to ethical and social responsibilities, both individually and as a team. Graduates will maintain and improve technical competence through continuous learning.</a:t>
            </a:r>
            <a:endParaRPr lang="en-US" sz="1500" b="1" u="sng" dirty="0">
              <a:latin typeface="Times New Roman" pitchFamily="18" charset="0"/>
              <a:cs typeface="Times New Roman" pitchFamily="18" charset="0"/>
            </a:endParaRPr>
          </a:p>
          <a:p>
            <a:endParaRPr lang="en-IN" dirty="0"/>
          </a:p>
        </p:txBody>
      </p:sp>
      <p:sp>
        <p:nvSpPr>
          <p:cNvPr id="11" name="TextBox 10">
            <a:extLst>
              <a:ext uri="{FF2B5EF4-FFF2-40B4-BE49-F238E27FC236}">
                <a16:creationId xmlns:a16="http://schemas.microsoft.com/office/drawing/2014/main" id="{6098E141-079A-F0AC-B0A8-EDF091AA8084}"/>
              </a:ext>
            </a:extLst>
          </p:cNvPr>
          <p:cNvSpPr txBox="1"/>
          <p:nvPr/>
        </p:nvSpPr>
        <p:spPr>
          <a:xfrm>
            <a:off x="833535" y="4780668"/>
            <a:ext cx="10668000" cy="1554272"/>
          </a:xfrm>
          <a:prstGeom prst="rect">
            <a:avLst/>
          </a:prstGeom>
          <a:solidFill>
            <a:schemeClr val="accent1">
              <a:lumMod val="60000"/>
              <a:lumOff val="40000"/>
            </a:schemeClr>
          </a:solidFill>
          <a:effectLst>
            <a:outerShdw blurRad="50800" dist="38100" dir="16200000" rotWithShape="0">
              <a:prstClr val="black">
                <a:alpha val="40000"/>
              </a:prstClr>
            </a:outerShdw>
          </a:effectLst>
        </p:spPr>
        <p:txBody>
          <a:bodyPr wrap="square" rtlCol="0">
            <a:spAutoFit/>
          </a:bodyPr>
          <a:lstStyle/>
          <a:p>
            <a:pPr algn="just"/>
            <a:r>
              <a:rPr lang="en-US" sz="1500" b="1" dirty="0">
                <a:latin typeface="Times New Roman" pitchFamily="18" charset="0"/>
                <a:cs typeface="Times New Roman" pitchFamily="18" charset="0"/>
              </a:rPr>
              <a:t>PSOs</a:t>
            </a:r>
          </a:p>
          <a:p>
            <a:pPr algn="just"/>
            <a:r>
              <a:rPr lang="en-US" sz="1500" b="1" dirty="0">
                <a:latin typeface="Times New Roman" pitchFamily="18" charset="0"/>
                <a:cs typeface="Times New Roman" pitchFamily="18" charset="0"/>
              </a:rPr>
              <a:t>PSO1: </a:t>
            </a:r>
            <a:r>
              <a:rPr lang="en-US" sz="1500" dirty="0">
                <a:latin typeface="Times New Roman" panose="02020603050405020304" pitchFamily="18" charset="0"/>
                <a:cs typeface="Times New Roman" panose="02020603050405020304" pitchFamily="18" charset="0"/>
              </a:rPr>
              <a:t>Core Engineering: The graduates will be able to apply the principles of Electronics and Communication in core areas.</a:t>
            </a:r>
          </a:p>
          <a:p>
            <a:pPr algn="just"/>
            <a:r>
              <a:rPr lang="en-US" sz="1500" b="1" dirty="0">
                <a:latin typeface="Times New Roman" panose="02020603050405020304" pitchFamily="18" charset="0"/>
                <a:cs typeface="Times New Roman" panose="02020603050405020304" pitchFamily="18" charset="0"/>
              </a:rPr>
              <a:t>PSO2: </a:t>
            </a:r>
            <a:r>
              <a:rPr lang="en-US" sz="1500" dirty="0">
                <a:latin typeface="Times New Roman" panose="02020603050405020304" pitchFamily="18" charset="0"/>
                <a:cs typeface="Times New Roman" panose="02020603050405020304" pitchFamily="18" charset="0"/>
              </a:rPr>
              <a:t>Soft Skills: An ability to use latest hardware and software tools in Electronics and Communication engineering.</a:t>
            </a:r>
          </a:p>
          <a:p>
            <a:pPr algn="just"/>
            <a:r>
              <a:rPr lang="en-US" sz="1500" b="1" dirty="0">
                <a:latin typeface="Times New Roman" panose="02020603050405020304" pitchFamily="18" charset="0"/>
                <a:cs typeface="Times New Roman" panose="02020603050405020304" pitchFamily="18" charset="0"/>
              </a:rPr>
              <a:t>PSO3: </a:t>
            </a:r>
            <a:r>
              <a:rPr lang="en-US" sz="1500" dirty="0">
                <a:latin typeface="Times New Roman" panose="02020603050405020304" pitchFamily="18" charset="0"/>
                <a:cs typeface="Times New Roman" panose="02020603050405020304" pitchFamily="18" charset="0"/>
              </a:rPr>
              <a:t>Successful Career: Preparing Graduates to satisfy industrial needs and pursue higher studies with social-awareness and universal moral values.</a:t>
            </a:r>
            <a:endParaRPr lang="en-US" sz="1500" b="1" u="sng" dirty="0">
              <a:latin typeface="Times New Roman" panose="02020603050405020304" pitchFamily="18" charset="0"/>
              <a:cs typeface="Times New Roman" pitchFamily="18" charset="0"/>
            </a:endParaRPr>
          </a:p>
          <a:p>
            <a:endParaRPr lang="en-IN" dirty="0"/>
          </a:p>
        </p:txBody>
      </p:sp>
    </p:spTree>
    <p:extLst>
      <p:ext uri="{BB962C8B-B14F-4D97-AF65-F5344CB8AC3E}">
        <p14:creationId xmlns:p14="http://schemas.microsoft.com/office/powerpoint/2010/main" val="126953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6100B-6615-8FC0-B84D-C04E558A09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106390-49E0-40B2-FFE5-503D8D1C092E}"/>
              </a:ext>
            </a:extLst>
          </p:cNvPr>
          <p:cNvSpPr txBox="1"/>
          <p:nvPr/>
        </p:nvSpPr>
        <p:spPr>
          <a:xfrm>
            <a:off x="4114800" y="609600"/>
            <a:ext cx="33528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     CONTENTS</a:t>
            </a:r>
          </a:p>
        </p:txBody>
      </p:sp>
      <p:sp>
        <p:nvSpPr>
          <p:cNvPr id="6" name="Rectangle 5">
            <a:extLst>
              <a:ext uri="{FF2B5EF4-FFF2-40B4-BE49-F238E27FC236}">
                <a16:creationId xmlns:a16="http://schemas.microsoft.com/office/drawing/2014/main" id="{4E1BEE21-ED0B-8D2A-197A-CFB1FE95330E}"/>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E4B22087-7426-10B7-8A9E-8FF2989E5132}"/>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2" name="TextBox 1">
            <a:extLst>
              <a:ext uri="{FF2B5EF4-FFF2-40B4-BE49-F238E27FC236}">
                <a16:creationId xmlns:a16="http://schemas.microsoft.com/office/drawing/2014/main" id="{EDFCBF14-D18C-DB45-2DC1-86FEC8015810}"/>
              </a:ext>
            </a:extLst>
          </p:cNvPr>
          <p:cNvSpPr txBox="1"/>
          <p:nvPr/>
        </p:nvSpPr>
        <p:spPr>
          <a:xfrm>
            <a:off x="914400" y="1290221"/>
            <a:ext cx="7086600" cy="4602029"/>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Abstract</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Introduction</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Literature Survey</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Objectives</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Methodology Adopted</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Progress so far &amp; Intermediate Results</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Conclusion</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Future Scope</a:t>
            </a:r>
          </a:p>
          <a:p>
            <a:pPr marL="342900" indent="-342900">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References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4700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3" name="Rectangle 2"/>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3118" name="TextBox 3117">
            <a:extLst>
              <a:ext uri="{FF2B5EF4-FFF2-40B4-BE49-F238E27FC236}">
                <a16:creationId xmlns:a16="http://schemas.microsoft.com/office/drawing/2014/main" id="{7D87453B-B413-F4BD-0EE3-F25940BC33E0}"/>
              </a:ext>
            </a:extLst>
          </p:cNvPr>
          <p:cNvSpPr txBox="1"/>
          <p:nvPr/>
        </p:nvSpPr>
        <p:spPr>
          <a:xfrm>
            <a:off x="533400" y="833119"/>
            <a:ext cx="10668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F16C30D8-484B-3D26-AF73-E635D8C921FD}"/>
              </a:ext>
            </a:extLst>
          </p:cNvPr>
          <p:cNvSpPr txBox="1"/>
          <p:nvPr/>
        </p:nvSpPr>
        <p:spPr>
          <a:xfrm>
            <a:off x="266700" y="1600200"/>
            <a:ext cx="11658600" cy="3961149"/>
          </a:xfrm>
          <a:prstGeom prst="rect">
            <a:avLst/>
          </a:prstGeom>
          <a:noFill/>
        </p:spPr>
        <p:txBody>
          <a:bodyPr wrap="square">
            <a:spAutoFit/>
          </a:bodyPr>
          <a:lstStyle/>
          <a:p>
            <a:pPr marL="342900" indent="-342900"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Data across multiple heterogeneous devices leads to </a:t>
            </a:r>
            <a:r>
              <a:rPr lang="en-IN" sz="2000" b="1" dirty="0">
                <a:latin typeface="Times New Roman" panose="02020603050405020304" pitchFamily="18" charset="0"/>
                <a:cs typeface="Times New Roman" panose="02020603050405020304" pitchFamily="18" charset="0"/>
              </a:rPr>
              <a:t>fragmented storage</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lack of redundancy</a:t>
            </a:r>
            <a:r>
              <a:rPr lang="en-IN" sz="2000" dirty="0">
                <a:latin typeface="Times New Roman" panose="02020603050405020304" pitchFamily="18" charset="0"/>
                <a:cs typeface="Times New Roman" panose="02020603050405020304" pitchFamily="18" charset="0"/>
              </a:rPr>
              <a:t>, and higher chances of </a:t>
            </a:r>
            <a:r>
              <a:rPr lang="en-IN" sz="2000" b="1" dirty="0">
                <a:latin typeface="Times New Roman" panose="02020603050405020304" pitchFamily="18" charset="0"/>
                <a:cs typeface="Times New Roman" panose="02020603050405020304" pitchFamily="18" charset="0"/>
              </a:rPr>
              <a:t>data corruption or loss</a:t>
            </a:r>
            <a:r>
              <a:rPr lang="en-IN" sz="20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q"/>
            </a:pPr>
            <a:endParaRPr lang="en-IN" sz="5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Proposed System:</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Raspberry Pi–based NAS</a:t>
            </a:r>
            <a:r>
              <a:rPr lang="en-IN" sz="2000" dirty="0">
                <a:latin typeface="Times New Roman" panose="02020603050405020304" pitchFamily="18" charset="0"/>
                <a:cs typeface="Times New Roman" panose="02020603050405020304" pitchFamily="18" charset="0"/>
              </a:rPr>
              <a:t> using </a:t>
            </a:r>
            <a:r>
              <a:rPr lang="en-IN" sz="2000" b="1" dirty="0">
                <a:latin typeface="Times New Roman" panose="02020603050405020304" pitchFamily="18" charset="0"/>
                <a:cs typeface="Times New Roman" panose="02020603050405020304" pitchFamily="18" charset="0"/>
              </a:rPr>
              <a:t>Gigabit Ethernet + USB 3.0 storage</a:t>
            </a:r>
            <a:r>
              <a:rPr lang="en-IN" sz="2000" dirty="0">
                <a:latin typeface="Times New Roman" panose="02020603050405020304" pitchFamily="18" charset="0"/>
                <a:cs typeface="Times New Roman" panose="02020603050405020304" pitchFamily="18" charset="0"/>
              </a:rPr>
              <a:t> to deliver centralized network storage, remote access, and automated data handling.</a:t>
            </a:r>
          </a:p>
          <a:p>
            <a:pPr marL="800100" lvl="1" indent="-342900" algn="just">
              <a:buFont typeface="Arial" panose="020B0604020202020204" pitchFamily="34" charset="0"/>
              <a:buChar char="•"/>
            </a:pPr>
            <a:endParaRPr lang="en-IN" sz="5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Key Technical Features:</a:t>
            </a:r>
            <a:endParaRPr lang="en-IN" sz="500"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5–8 W power consumption</a:t>
            </a:r>
            <a:r>
              <a:rPr lang="en-IN" sz="2000" dirty="0">
                <a:latin typeface="Times New Roman" panose="02020603050405020304" pitchFamily="18" charset="0"/>
                <a:cs typeface="Times New Roman" panose="02020603050405020304" pitchFamily="18" charset="0"/>
              </a:rPr>
              <a:t> enabling continuous 24×7 operation</a:t>
            </a:r>
          </a:p>
          <a:p>
            <a:pPr marL="800100" lvl="1"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Cost-optimized design</a:t>
            </a:r>
            <a:r>
              <a:rPr lang="en-IN" sz="2000" dirty="0">
                <a:latin typeface="Times New Roman" panose="02020603050405020304" pitchFamily="18" charset="0"/>
                <a:cs typeface="Times New Roman" panose="02020603050405020304" pitchFamily="18" charset="0"/>
              </a:rPr>
              <a:t> (~₹10k–₹15k), cheaper than commercial NAS units</a:t>
            </a:r>
          </a:p>
          <a:p>
            <a:pPr marL="800100" lvl="1"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SMB/NFS protocol support</a:t>
            </a:r>
            <a:r>
              <a:rPr lang="en-IN" sz="2000" dirty="0">
                <a:latin typeface="Times New Roman" panose="02020603050405020304" pitchFamily="18" charset="0"/>
                <a:cs typeface="Times New Roman" panose="02020603050405020304" pitchFamily="18" charset="0"/>
              </a:rPr>
              <a:t> for multi-platform interoperability (Windows/Linux/Android/Smart TV)</a:t>
            </a:r>
          </a:p>
          <a:p>
            <a:pPr marL="800100" lvl="1"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User-level authentication &amp; permission-based access control</a:t>
            </a:r>
            <a:r>
              <a:rPr lang="en-IN" sz="2000" dirty="0">
                <a:latin typeface="Times New Roman" panose="02020603050405020304" pitchFamily="18" charset="0"/>
                <a:cs typeface="Times New Roman" panose="02020603050405020304" pitchFamily="18" charset="0"/>
              </a:rPr>
              <a:t> for secure data management</a:t>
            </a:r>
          </a:p>
        </p:txBody>
      </p:sp>
    </p:spTree>
    <p:extLst>
      <p:ext uri="{BB962C8B-B14F-4D97-AF65-F5344CB8AC3E}">
        <p14:creationId xmlns:p14="http://schemas.microsoft.com/office/powerpoint/2010/main" val="144426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CB548-9FDE-C7D0-7445-17590A1B74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9EE170-EFFB-1DD5-EFDB-DDD2ED80CDC3}"/>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3" name="Rectangle 2">
            <a:extLst>
              <a:ext uri="{FF2B5EF4-FFF2-40B4-BE49-F238E27FC236}">
                <a16:creationId xmlns:a16="http://schemas.microsoft.com/office/drawing/2014/main" id="{90700BF8-FE70-E1C4-6F19-AE997A05AE03}"/>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3118" name="TextBox 3117">
            <a:extLst>
              <a:ext uri="{FF2B5EF4-FFF2-40B4-BE49-F238E27FC236}">
                <a16:creationId xmlns:a16="http://schemas.microsoft.com/office/drawing/2014/main" id="{E54F2BB3-B251-853A-9216-DAC21E6B963D}"/>
              </a:ext>
            </a:extLst>
          </p:cNvPr>
          <p:cNvSpPr txBox="1"/>
          <p:nvPr/>
        </p:nvSpPr>
        <p:spPr>
          <a:xfrm>
            <a:off x="609600" y="609227"/>
            <a:ext cx="10668000" cy="646331"/>
          </a:xfrm>
          <a:prstGeom prst="rect">
            <a:avLst/>
          </a:prstGeom>
          <a:noFill/>
        </p:spPr>
        <p:txBody>
          <a:bodyPr wrap="square">
            <a:spAutoFit/>
          </a:bodyPr>
          <a:lstStyle/>
          <a:p>
            <a:r>
              <a:rPr lang="en-US" sz="2400" dirty="0"/>
              <a:t>                                                   </a:t>
            </a: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3FDBCD7A-7B07-B263-DF64-3D47E4B69941}"/>
              </a:ext>
            </a:extLst>
          </p:cNvPr>
          <p:cNvSpPr txBox="1"/>
          <p:nvPr/>
        </p:nvSpPr>
        <p:spPr>
          <a:xfrm>
            <a:off x="381000" y="1483785"/>
            <a:ext cx="11734800" cy="4785926"/>
          </a:xfrm>
          <a:prstGeom prst="rect">
            <a:avLst/>
          </a:prstGeom>
          <a:noFill/>
        </p:spPr>
        <p:txBody>
          <a:bodyPr wrap="square">
            <a:spAutoFit/>
          </a:bodyPr>
          <a:lstStyle/>
          <a:p>
            <a:pPr marL="342900" marR="383540" indent="-342900" algn="just">
              <a:spcAft>
                <a:spcPts val="0"/>
              </a:spcAf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Managing personal data across multiple devices results in </a:t>
            </a:r>
            <a:r>
              <a:rPr lang="en-US" sz="2000" b="1" dirty="0">
                <a:latin typeface="Times New Roman" panose="02020603050405020304" pitchFamily="18" charset="0"/>
                <a:cs typeface="Times New Roman" panose="02020603050405020304" pitchFamily="18" charset="0"/>
              </a:rPr>
              <a:t>distributed storage</a:t>
            </a:r>
            <a:r>
              <a:rPr lang="en-US" sz="2000" dirty="0">
                <a:latin typeface="Times New Roman" panose="02020603050405020304" pitchFamily="18" charset="0"/>
                <a:cs typeface="Times New Roman" panose="02020603050405020304" pitchFamily="18" charset="0"/>
              </a:rPr>
              <a:t>, making data organization, backup, and security inefficient.</a:t>
            </a:r>
          </a:p>
          <a:p>
            <a:pPr marL="342900" marR="383540" indent="-342900" algn="just">
              <a:spcAft>
                <a:spcPts val="0"/>
              </a:spcAft>
              <a:buFont typeface="Wingdings" panose="05000000000000000000" pitchFamily="2" charset="2"/>
              <a:buChar char="q"/>
            </a:pPr>
            <a:endParaRPr lang="en-US" sz="5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Network Attached Storage (NAS)</a:t>
            </a:r>
            <a:r>
              <a:rPr lang="en-US" sz="2000" dirty="0">
                <a:latin typeface="Times New Roman" panose="02020603050405020304" pitchFamily="18" charset="0"/>
                <a:cs typeface="Times New Roman" panose="02020603050405020304" pitchFamily="18" charset="0"/>
              </a:rPr>
              <a:t> provides a </a:t>
            </a:r>
            <a:r>
              <a:rPr lang="en-US" sz="2000" b="1" dirty="0">
                <a:latin typeface="Times New Roman" panose="02020603050405020304" pitchFamily="18" charset="0"/>
                <a:cs typeface="Times New Roman" panose="02020603050405020304" pitchFamily="18" charset="0"/>
              </a:rPr>
              <a:t>central repository</a:t>
            </a:r>
            <a:r>
              <a:rPr lang="en-US" sz="2000" dirty="0">
                <a:latin typeface="Times New Roman" panose="02020603050405020304" pitchFamily="18" charset="0"/>
                <a:cs typeface="Times New Roman" panose="02020603050405020304" pitchFamily="18" charset="0"/>
              </a:rPr>
              <a:t> for unified file access over IP-based networks.</a:t>
            </a:r>
          </a:p>
          <a:p>
            <a:pPr marL="342900" marR="383540" indent="-342900" algn="just">
              <a:spcAft>
                <a:spcPts val="0"/>
              </a:spcAft>
              <a:buFont typeface="Wingdings" panose="05000000000000000000" pitchFamily="2" charset="2"/>
              <a:buChar char="q"/>
            </a:pPr>
            <a:endParaRPr lang="en-US" sz="5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Raspberry Pi acts as a </a:t>
            </a:r>
            <a:r>
              <a:rPr lang="en-US" sz="2000" b="1" dirty="0">
                <a:latin typeface="Times New Roman" panose="02020603050405020304" pitchFamily="18" charset="0"/>
                <a:cs typeface="Times New Roman" panose="02020603050405020304" pitchFamily="18" charset="0"/>
              </a:rPr>
              <a:t>low‑power microserver</a:t>
            </a:r>
            <a:r>
              <a:rPr lang="en-US" sz="2000" dirty="0">
                <a:latin typeface="Times New Roman" panose="02020603050405020304" pitchFamily="18" charset="0"/>
                <a:cs typeface="Times New Roman" panose="02020603050405020304" pitchFamily="18" charset="0"/>
              </a:rPr>
              <a:t> capable of running network storage protocols like </a:t>
            </a:r>
            <a:r>
              <a:rPr lang="en-US" sz="2000" b="1" dirty="0">
                <a:latin typeface="Times New Roman" panose="02020603050405020304" pitchFamily="18" charset="0"/>
                <a:cs typeface="Times New Roman" panose="02020603050405020304" pitchFamily="18" charset="0"/>
              </a:rPr>
              <a:t>SMB/NFS</a:t>
            </a:r>
            <a:r>
              <a:rPr lang="en-US" sz="2000" dirty="0">
                <a:latin typeface="Times New Roman" panose="02020603050405020304" pitchFamily="18" charset="0"/>
                <a:cs typeface="Times New Roman" panose="02020603050405020304" pitchFamily="18" charset="0"/>
              </a:rPr>
              <a:t> for seamless cross‑platform connectivity.</a:t>
            </a:r>
          </a:p>
          <a:p>
            <a:pPr marL="342900" marR="383540" indent="-342900" algn="just">
              <a:spcAft>
                <a:spcPts val="0"/>
              </a:spcAft>
              <a:buFont typeface="Wingdings" panose="05000000000000000000" pitchFamily="2" charset="2"/>
              <a:buChar char="q"/>
            </a:pPr>
            <a:endParaRPr lang="en-US" sz="5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With </a:t>
            </a:r>
            <a:r>
              <a:rPr lang="en-US" sz="2000" b="1" dirty="0">
                <a:latin typeface="Times New Roman" panose="02020603050405020304" pitchFamily="18" charset="0"/>
                <a:cs typeface="Times New Roman" panose="02020603050405020304" pitchFamily="18" charset="0"/>
              </a:rPr>
              <a:t>USB 3.0 storage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Gigabit Ethernet</a:t>
            </a:r>
            <a:r>
              <a:rPr lang="en-US" sz="2000" dirty="0">
                <a:latin typeface="Times New Roman" panose="02020603050405020304" pitchFamily="18" charset="0"/>
                <a:cs typeface="Times New Roman" panose="02020603050405020304" pitchFamily="18" charset="0"/>
              </a:rPr>
              <a:t>, Raspberry Pi delivers </a:t>
            </a:r>
            <a:r>
              <a:rPr lang="en-US" sz="2000" b="1" dirty="0">
                <a:latin typeface="Times New Roman" panose="02020603050405020304" pitchFamily="18" charset="0"/>
                <a:cs typeface="Times New Roman" panose="02020603050405020304" pitchFamily="18" charset="0"/>
              </a:rPr>
              <a:t>optimized read/write throughput</a:t>
            </a:r>
            <a:r>
              <a:rPr lang="en-US" sz="2000" dirty="0">
                <a:latin typeface="Times New Roman" panose="02020603050405020304" pitchFamily="18" charset="0"/>
                <a:cs typeface="Times New Roman" panose="02020603050405020304" pitchFamily="18" charset="0"/>
              </a:rPr>
              <a:t> suitable for home and small‑office environments.</a:t>
            </a:r>
          </a:p>
          <a:p>
            <a:pPr marL="342900" marR="383540" indent="-342900" algn="just">
              <a:spcAft>
                <a:spcPts val="0"/>
              </a:spcAft>
              <a:buFont typeface="Wingdings" panose="05000000000000000000" pitchFamily="2" charset="2"/>
              <a:buChar char="q"/>
            </a:pPr>
            <a:endParaRPr lang="en-US" sz="5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system enables </a:t>
            </a:r>
            <a:r>
              <a:rPr lang="en-US" sz="2000" b="1" dirty="0">
                <a:latin typeface="Times New Roman" panose="02020603050405020304" pitchFamily="18" charset="0"/>
                <a:cs typeface="Times New Roman" panose="02020603050405020304" pitchFamily="18" charset="0"/>
              </a:rPr>
              <a:t>multi‑user authentication</a:t>
            </a:r>
            <a:r>
              <a:rPr lang="en-US" sz="2000" dirty="0">
                <a:latin typeface="Times New Roman" panose="02020603050405020304" pitchFamily="18" charset="0"/>
                <a:cs typeface="Times New Roman" panose="02020603050405020304" pitchFamily="18" charset="0"/>
              </a:rPr>
              <a:t>, controlled file‑permissions, and </a:t>
            </a:r>
            <a:r>
              <a:rPr lang="en-US" sz="2000" b="1" dirty="0">
                <a:latin typeface="Times New Roman" panose="02020603050405020304" pitchFamily="18" charset="0"/>
                <a:cs typeface="Times New Roman" panose="02020603050405020304" pitchFamily="18" charset="0"/>
              </a:rPr>
              <a:t>secure data access policies</a:t>
            </a:r>
            <a:r>
              <a:rPr lang="en-US" sz="2000" dirty="0">
                <a:latin typeface="Times New Roman" panose="02020603050405020304" pitchFamily="18" charset="0"/>
                <a:cs typeface="Times New Roman" panose="02020603050405020304" pitchFamily="18" charset="0"/>
              </a:rPr>
              <a:t> for different clients.</a:t>
            </a:r>
          </a:p>
          <a:p>
            <a:pPr marL="342900" marR="383540" indent="-342900" algn="just">
              <a:spcAft>
                <a:spcPts val="0"/>
              </a:spcAft>
              <a:buFont typeface="Wingdings" panose="05000000000000000000" pitchFamily="2" charset="2"/>
              <a:buChar char="q"/>
            </a:pPr>
            <a:endParaRPr lang="en-US" sz="5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 Raspberry Pi NAS offers a </a:t>
            </a:r>
            <a:r>
              <a:rPr lang="en-US" sz="2000" b="1" dirty="0">
                <a:latin typeface="Times New Roman" panose="02020603050405020304" pitchFamily="18" charset="0"/>
                <a:cs typeface="Times New Roman" panose="02020603050405020304" pitchFamily="18" charset="0"/>
              </a:rPr>
              <a:t>cost‑efficient, scalable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24×7 operational</a:t>
            </a:r>
            <a:r>
              <a:rPr lang="en-US" sz="2000" dirty="0">
                <a:latin typeface="Times New Roman" panose="02020603050405020304" pitchFamily="18" charset="0"/>
                <a:cs typeface="Times New Roman" panose="02020603050405020304" pitchFamily="18" charset="0"/>
              </a:rPr>
              <a:t> alternative to commercial NAS devices using open‑source software.</a:t>
            </a:r>
          </a:p>
          <a:p>
            <a:pPr marL="342900" marR="383540" indent="-342900" algn="just">
              <a:spcAft>
                <a:spcPts val="0"/>
              </a:spcAft>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marR="383540" indent="-342900" algn="just">
              <a:spcAft>
                <a:spcPts val="0"/>
              </a:spcAft>
              <a:buFont typeface="Wingdings" panose="05000000000000000000" pitchFamily="2" charset="2"/>
              <a:buChar char="q"/>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064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879789-4CA6-BE94-A7E4-8B5D7D507E24}"/>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3" name="Rectangle 2">
            <a:extLst>
              <a:ext uri="{FF2B5EF4-FFF2-40B4-BE49-F238E27FC236}">
                <a16:creationId xmlns:a16="http://schemas.microsoft.com/office/drawing/2014/main" id="{879D555E-B488-306A-5B51-3BAF07EC9463}"/>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5" name="TextBox 4">
            <a:extLst>
              <a:ext uri="{FF2B5EF4-FFF2-40B4-BE49-F238E27FC236}">
                <a16:creationId xmlns:a16="http://schemas.microsoft.com/office/drawing/2014/main" id="{35E00F0A-1367-5BD3-0601-7A34A0879FDE}"/>
              </a:ext>
            </a:extLst>
          </p:cNvPr>
          <p:cNvSpPr txBox="1"/>
          <p:nvPr/>
        </p:nvSpPr>
        <p:spPr>
          <a:xfrm>
            <a:off x="3733800" y="528605"/>
            <a:ext cx="6109252" cy="1015663"/>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LITERATURE SURVEY</a:t>
            </a:r>
          </a:p>
          <a:p>
            <a:endParaRPr lang="en-IN" sz="2400" dirty="0"/>
          </a:p>
        </p:txBody>
      </p:sp>
      <p:graphicFrame>
        <p:nvGraphicFramePr>
          <p:cNvPr id="8" name="Table 7">
            <a:extLst>
              <a:ext uri="{FF2B5EF4-FFF2-40B4-BE49-F238E27FC236}">
                <a16:creationId xmlns:a16="http://schemas.microsoft.com/office/drawing/2014/main" id="{E734197C-300A-9CEA-4CC1-5596CB571A03}"/>
              </a:ext>
            </a:extLst>
          </p:cNvPr>
          <p:cNvGraphicFramePr>
            <a:graphicFrameLocks noGrp="1"/>
          </p:cNvGraphicFramePr>
          <p:nvPr>
            <p:extLst>
              <p:ext uri="{D42A27DB-BD31-4B8C-83A1-F6EECF244321}">
                <p14:modId xmlns:p14="http://schemas.microsoft.com/office/powerpoint/2010/main" val="3598299099"/>
              </p:ext>
            </p:extLst>
          </p:nvPr>
        </p:nvGraphicFramePr>
        <p:xfrm>
          <a:off x="612058" y="1544268"/>
          <a:ext cx="11049000" cy="4246932"/>
        </p:xfrm>
        <a:graphic>
          <a:graphicData uri="http://schemas.openxmlformats.org/drawingml/2006/table">
            <a:tbl>
              <a:tblPr firstRow="1" bandRow="1">
                <a:tableStyleId>{5C22544A-7EE6-4342-B048-85BDC9FD1C3A}</a:tableStyleId>
              </a:tblPr>
              <a:tblGrid>
                <a:gridCol w="835742">
                  <a:extLst>
                    <a:ext uri="{9D8B030D-6E8A-4147-A177-3AD203B41FA5}">
                      <a16:colId xmlns:a16="http://schemas.microsoft.com/office/drawing/2014/main" val="3637921368"/>
                    </a:ext>
                  </a:extLst>
                </a:gridCol>
                <a:gridCol w="990600">
                  <a:extLst>
                    <a:ext uri="{9D8B030D-6E8A-4147-A177-3AD203B41FA5}">
                      <a16:colId xmlns:a16="http://schemas.microsoft.com/office/drawing/2014/main" val="102048617"/>
                    </a:ext>
                  </a:extLst>
                </a:gridCol>
                <a:gridCol w="1371600">
                  <a:extLst>
                    <a:ext uri="{9D8B030D-6E8A-4147-A177-3AD203B41FA5}">
                      <a16:colId xmlns:a16="http://schemas.microsoft.com/office/drawing/2014/main" val="930994492"/>
                    </a:ext>
                  </a:extLst>
                </a:gridCol>
                <a:gridCol w="2209800">
                  <a:extLst>
                    <a:ext uri="{9D8B030D-6E8A-4147-A177-3AD203B41FA5}">
                      <a16:colId xmlns:a16="http://schemas.microsoft.com/office/drawing/2014/main" val="2640360840"/>
                    </a:ext>
                  </a:extLst>
                </a:gridCol>
                <a:gridCol w="5641258">
                  <a:extLst>
                    <a:ext uri="{9D8B030D-6E8A-4147-A177-3AD203B41FA5}">
                      <a16:colId xmlns:a16="http://schemas.microsoft.com/office/drawing/2014/main" val="2832872196"/>
                    </a:ext>
                  </a:extLst>
                </a:gridCol>
              </a:tblGrid>
              <a:tr h="2265732">
                <a:tc>
                  <a:txBody>
                    <a:bodyPr/>
                    <a:lstStyle/>
                    <a:p>
                      <a:pPr algn="ctr"/>
                      <a:r>
                        <a:rPr lang="en-IN" sz="1800" b="0" i="0" dirty="0">
                          <a:solidFill>
                            <a:schemeClr val="tx1"/>
                          </a:solidFill>
                          <a:latin typeface="Times New Roman" panose="02020603050405020304" pitchFamily="18" charset="0"/>
                          <a:cs typeface="Times New Roman" panose="02020603050405020304" pitchFamily="18" charset="0"/>
                        </a:rPr>
                        <a:t>1.</a:t>
                      </a:r>
                    </a:p>
                  </a:txBody>
                  <a:tcPr>
                    <a:solidFill>
                      <a:schemeClr val="accent1">
                        <a:lumMod val="40000"/>
                        <a:lumOff val="60000"/>
                      </a:schemeClr>
                    </a:solidFill>
                  </a:tcPr>
                </a:tc>
                <a:tc>
                  <a:txBody>
                    <a:bodyPr/>
                    <a:lstStyle/>
                    <a:p>
                      <a:pPr algn="ctr"/>
                      <a:r>
                        <a:rPr lang="en-IN" sz="1800" b="0" i="0" dirty="0">
                          <a:solidFill>
                            <a:schemeClr val="tx1"/>
                          </a:solidFill>
                          <a:latin typeface="Times New Roman" panose="02020603050405020304" pitchFamily="18" charset="0"/>
                          <a:cs typeface="Times New Roman" panose="02020603050405020304" pitchFamily="18" charset="0"/>
                        </a:rPr>
                        <a:t>2024</a:t>
                      </a:r>
                    </a:p>
                  </a:txBody>
                  <a:tcPr>
                    <a:solidFill>
                      <a:schemeClr val="accent1">
                        <a:lumMod val="40000"/>
                        <a:lumOff val="60000"/>
                      </a:schemeClr>
                    </a:solidFill>
                  </a:tcPr>
                </a:tc>
                <a:tc>
                  <a:txBody>
                    <a:bodyPr/>
                    <a:lstStyle/>
                    <a:p>
                      <a:pPr algn="ct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Dalal et al</a:t>
                      </a:r>
                      <a:endParaRPr lang="en-IN" sz="1800" b="0" i="0" u="none"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Optimum Approaches for Building NAS Systems</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Compares SBCs vs PC servers; evaluates NAS OS (OMV, </a:t>
                      </a:r>
                      <a:r>
                        <a:rPr lang="en-IN" sz="1800" b="0" i="0" kern="1200" dirty="0" err="1">
                          <a:solidFill>
                            <a:schemeClr val="tx1"/>
                          </a:solidFill>
                          <a:effectLst/>
                          <a:latin typeface="Times New Roman" panose="02020603050405020304" pitchFamily="18" charset="0"/>
                          <a:ea typeface="+mn-ea"/>
                          <a:cs typeface="Times New Roman" panose="02020603050405020304" pitchFamily="18" charset="0"/>
                        </a:rPr>
                        <a:t>FreeNAS</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protocol &amp; backup best‑practices.</a:t>
                      </a:r>
                    </a:p>
                    <a:p>
                      <a:pPr marL="285750" indent="-285750">
                        <a:buFont typeface="Arial" panose="020B0604020202020204" pitchFamily="34" charset="0"/>
                        <a:buChar char="•"/>
                      </a:pPr>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p>
                      <a:pPr marL="285750" indent="-285750">
                        <a:buFont typeface="Arial" panose="020B0604020202020204" pitchFamily="34" charset="0"/>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Justifies hardware + OS selection and enables VPN, RAID, remote access enhancements.</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extLst>
                  <a:ext uri="{0D108BD9-81ED-4DB2-BD59-A6C34878D82A}">
                    <a16:rowId xmlns:a16="http://schemas.microsoft.com/office/drawing/2014/main" val="3521207188"/>
                  </a:ext>
                </a:extLst>
              </a:tr>
              <a:tr h="1981200">
                <a:tc>
                  <a:txBody>
                    <a:bodyPr/>
                    <a:lstStyle/>
                    <a:p>
                      <a:pPr algn="ctr"/>
                      <a:r>
                        <a:rPr lang="en-IN" sz="1800" i="0" dirty="0">
                          <a:solidFill>
                            <a:schemeClr val="tx1"/>
                          </a:solidFill>
                          <a:latin typeface="Times New Roman" panose="02020603050405020304" pitchFamily="18" charset="0"/>
                          <a:cs typeface="Times New Roman" panose="02020603050405020304" pitchFamily="18"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Times New Roman" panose="02020603050405020304" pitchFamily="18" charset="0"/>
                          <a:cs typeface="Times New Roman" panose="02020603050405020304" pitchFamily="18" charset="0"/>
                        </a:rPr>
                        <a:t>2</a:t>
                      </a:r>
                      <a:r>
                        <a:rPr lang="en-IN" sz="1800" b="0" i="0" dirty="0">
                          <a:solidFill>
                            <a:schemeClr val="tx1"/>
                          </a:solidFill>
                          <a:latin typeface="Times New Roman" panose="02020603050405020304" pitchFamily="18" charset="0"/>
                          <a:cs typeface="Times New Roman" panose="02020603050405020304" pitchFamily="18" charset="0"/>
                        </a:rPr>
                        <a:t>024</a:t>
                      </a:r>
                    </a:p>
                    <a:p>
                      <a:pPr algn="ctr"/>
                      <a:endParaRPr lang="en-IN" sz="1800" b="0" i="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Malse et al.</a:t>
                      </a:r>
                      <a:endParaRPr lang="en-IN" sz="1800" i="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Secure Private Cloud Storage System</a:t>
                      </a:r>
                      <a:endParaRPr lang="en-IN" sz="1800" b="0" i="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285750" indent="-285750">
                        <a:lnSpc>
                          <a:spcPct val="100000"/>
                        </a:lnSpc>
                        <a:buFont typeface="Arial" panose="020B0604020202020204" pitchFamily="34" charset="0"/>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Raspberry Pi +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OpenMediaVault</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 CCTV + authentication; real‑time performance tested.</a:t>
                      </a:r>
                    </a:p>
                    <a:p>
                      <a:pPr marL="285750" indent="-285750">
                        <a:lnSpc>
                          <a:spcPct val="100000"/>
                        </a:lnSpc>
                        <a:buFont typeface="Arial" panose="020B0604020202020204" pitchFamily="34" charset="0"/>
                        <a:buChar char="•"/>
                      </a:pPr>
                      <a:endParaRPr lang="en-US" sz="1800" b="0" i="0" kern="1200" dirty="0">
                        <a:solidFill>
                          <a:schemeClr val="tx1"/>
                        </a:solidFill>
                        <a:effectLst/>
                        <a:latin typeface="Times New Roman" panose="02020603050405020304" pitchFamily="18" charset="0"/>
                        <a:ea typeface="+mn-ea"/>
                        <a:cs typeface="Times New Roman" panose="02020603050405020304" pitchFamily="18" charset="0"/>
                      </a:endParaRPr>
                    </a:p>
                    <a:p>
                      <a:pPr marL="285750" indent="-285750">
                        <a:lnSpc>
                          <a:spcPct val="100000"/>
                        </a:lnSpc>
                        <a:buFont typeface="Arial" panose="020B0604020202020204" pitchFamily="34" charset="0"/>
                        <a:buChar cha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Refines security, monitoring scripts &amp; OMV‑based NAS deployment we can adopt.</a:t>
                      </a:r>
                      <a:endParaRPr lang="en-IN" sz="1800" b="0" i="0" baseline="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4547391"/>
                  </a:ext>
                </a:extLst>
              </a:tr>
            </a:tbl>
          </a:graphicData>
        </a:graphic>
      </p:graphicFrame>
      <p:graphicFrame>
        <p:nvGraphicFramePr>
          <p:cNvPr id="9" name="Table 8">
            <a:extLst>
              <a:ext uri="{FF2B5EF4-FFF2-40B4-BE49-F238E27FC236}">
                <a16:creationId xmlns:a16="http://schemas.microsoft.com/office/drawing/2014/main" id="{CD3AF9C1-1855-D6CB-A390-30E7E0D21DFD}"/>
              </a:ext>
            </a:extLst>
          </p:cNvPr>
          <p:cNvGraphicFramePr>
            <a:graphicFrameLocks noGrp="1"/>
          </p:cNvGraphicFramePr>
          <p:nvPr>
            <p:extLst>
              <p:ext uri="{D42A27DB-BD31-4B8C-83A1-F6EECF244321}">
                <p14:modId xmlns:p14="http://schemas.microsoft.com/office/powerpoint/2010/main" val="2181731672"/>
              </p:ext>
            </p:extLst>
          </p:nvPr>
        </p:nvGraphicFramePr>
        <p:xfrm>
          <a:off x="609600" y="1163268"/>
          <a:ext cx="11049000" cy="3810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77775353"/>
                    </a:ext>
                  </a:extLst>
                </a:gridCol>
                <a:gridCol w="990600">
                  <a:extLst>
                    <a:ext uri="{9D8B030D-6E8A-4147-A177-3AD203B41FA5}">
                      <a16:colId xmlns:a16="http://schemas.microsoft.com/office/drawing/2014/main" val="1265146653"/>
                    </a:ext>
                  </a:extLst>
                </a:gridCol>
                <a:gridCol w="1371600">
                  <a:extLst>
                    <a:ext uri="{9D8B030D-6E8A-4147-A177-3AD203B41FA5}">
                      <a16:colId xmlns:a16="http://schemas.microsoft.com/office/drawing/2014/main" val="3799419304"/>
                    </a:ext>
                  </a:extLst>
                </a:gridCol>
                <a:gridCol w="2209800">
                  <a:extLst>
                    <a:ext uri="{9D8B030D-6E8A-4147-A177-3AD203B41FA5}">
                      <a16:colId xmlns:a16="http://schemas.microsoft.com/office/drawing/2014/main" val="2111152972"/>
                    </a:ext>
                  </a:extLst>
                </a:gridCol>
                <a:gridCol w="5638800">
                  <a:extLst>
                    <a:ext uri="{9D8B030D-6E8A-4147-A177-3AD203B41FA5}">
                      <a16:colId xmlns:a16="http://schemas.microsoft.com/office/drawing/2014/main" val="3921859564"/>
                    </a:ext>
                  </a:extLst>
                </a:gridCol>
              </a:tblGrid>
              <a:tr h="381000">
                <a:tc>
                  <a:txBody>
                    <a:bodyPr/>
                    <a:lstStyle/>
                    <a:p>
                      <a:pPr algn="ctr"/>
                      <a:r>
                        <a:rPr lang="en-IN" dirty="0">
                          <a:solidFill>
                            <a:schemeClr val="bg1"/>
                          </a:solidFill>
                        </a:rPr>
                        <a:t>SL NO.</a:t>
                      </a:r>
                    </a:p>
                  </a:txBody>
                  <a:tcPr/>
                </a:tc>
                <a:tc>
                  <a:txBody>
                    <a:bodyPr/>
                    <a:lstStyle/>
                    <a:p>
                      <a:pPr algn="ctr"/>
                      <a:r>
                        <a:rPr lang="en-IN" dirty="0"/>
                        <a:t>YEAR</a:t>
                      </a:r>
                    </a:p>
                  </a:txBody>
                  <a:tcPr/>
                </a:tc>
                <a:tc>
                  <a:txBody>
                    <a:bodyPr/>
                    <a:lstStyle/>
                    <a:p>
                      <a:pPr algn="ctr"/>
                      <a:r>
                        <a:rPr lang="en-IN" dirty="0"/>
                        <a:t>AUTHOR</a:t>
                      </a:r>
                    </a:p>
                  </a:txBody>
                  <a:tcPr/>
                </a:tc>
                <a:tc>
                  <a:txBody>
                    <a:bodyPr/>
                    <a:lstStyle/>
                    <a:p>
                      <a:pPr algn="ctr"/>
                      <a:r>
                        <a:rPr lang="en-IN" dirty="0"/>
                        <a:t>TITLE</a:t>
                      </a:r>
                    </a:p>
                  </a:txBody>
                  <a:tcPr/>
                </a:tc>
                <a:tc>
                  <a:txBody>
                    <a:bodyPr/>
                    <a:lstStyle/>
                    <a:p>
                      <a:pPr algn="ctr"/>
                      <a:r>
                        <a:rPr lang="en-IN" dirty="0"/>
                        <a:t>METHODOLOGY</a:t>
                      </a:r>
                    </a:p>
                  </a:txBody>
                  <a:tcPr/>
                </a:tc>
                <a:extLst>
                  <a:ext uri="{0D108BD9-81ED-4DB2-BD59-A6C34878D82A}">
                    <a16:rowId xmlns:a16="http://schemas.microsoft.com/office/drawing/2014/main" val="3692082662"/>
                  </a:ext>
                </a:extLst>
              </a:tr>
            </a:tbl>
          </a:graphicData>
        </a:graphic>
      </p:graphicFrame>
    </p:spTree>
    <p:extLst>
      <p:ext uri="{BB962C8B-B14F-4D97-AF65-F5344CB8AC3E}">
        <p14:creationId xmlns:p14="http://schemas.microsoft.com/office/powerpoint/2010/main" val="302093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879789-4CA6-BE94-A7E4-8B5D7D507E24}"/>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3" name="Rectangle 2">
            <a:extLst>
              <a:ext uri="{FF2B5EF4-FFF2-40B4-BE49-F238E27FC236}">
                <a16:creationId xmlns:a16="http://schemas.microsoft.com/office/drawing/2014/main" id="{879D555E-B488-306A-5B51-3BAF07EC9463}"/>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5" name="TextBox 4">
            <a:extLst>
              <a:ext uri="{FF2B5EF4-FFF2-40B4-BE49-F238E27FC236}">
                <a16:creationId xmlns:a16="http://schemas.microsoft.com/office/drawing/2014/main" id="{35E00F0A-1367-5BD3-0601-7A34A0879FDE}"/>
              </a:ext>
            </a:extLst>
          </p:cNvPr>
          <p:cNvSpPr txBox="1"/>
          <p:nvPr/>
        </p:nvSpPr>
        <p:spPr>
          <a:xfrm>
            <a:off x="3657600" y="460764"/>
            <a:ext cx="6109252" cy="1015663"/>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LITERATURE SURVEY</a:t>
            </a:r>
          </a:p>
          <a:p>
            <a:endParaRPr lang="en-IN" sz="2400" dirty="0"/>
          </a:p>
        </p:txBody>
      </p:sp>
      <p:graphicFrame>
        <p:nvGraphicFramePr>
          <p:cNvPr id="6" name="Table 5">
            <a:extLst>
              <a:ext uri="{FF2B5EF4-FFF2-40B4-BE49-F238E27FC236}">
                <a16:creationId xmlns:a16="http://schemas.microsoft.com/office/drawing/2014/main" id="{B1AF2B27-3504-169D-ED17-1EF6E8CBF3E2}"/>
              </a:ext>
            </a:extLst>
          </p:cNvPr>
          <p:cNvGraphicFramePr>
            <a:graphicFrameLocks noGrp="1"/>
          </p:cNvGraphicFramePr>
          <p:nvPr>
            <p:extLst>
              <p:ext uri="{D42A27DB-BD31-4B8C-83A1-F6EECF244321}">
                <p14:modId xmlns:p14="http://schemas.microsoft.com/office/powerpoint/2010/main" val="2006381069"/>
              </p:ext>
            </p:extLst>
          </p:nvPr>
        </p:nvGraphicFramePr>
        <p:xfrm>
          <a:off x="614516" y="1085852"/>
          <a:ext cx="11049000" cy="6400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77775353"/>
                    </a:ext>
                  </a:extLst>
                </a:gridCol>
                <a:gridCol w="1061884">
                  <a:extLst>
                    <a:ext uri="{9D8B030D-6E8A-4147-A177-3AD203B41FA5}">
                      <a16:colId xmlns:a16="http://schemas.microsoft.com/office/drawing/2014/main" val="1265146653"/>
                    </a:ext>
                  </a:extLst>
                </a:gridCol>
                <a:gridCol w="1752600">
                  <a:extLst>
                    <a:ext uri="{9D8B030D-6E8A-4147-A177-3AD203B41FA5}">
                      <a16:colId xmlns:a16="http://schemas.microsoft.com/office/drawing/2014/main" val="3799419304"/>
                    </a:ext>
                  </a:extLst>
                </a:gridCol>
                <a:gridCol w="2057400">
                  <a:extLst>
                    <a:ext uri="{9D8B030D-6E8A-4147-A177-3AD203B41FA5}">
                      <a16:colId xmlns:a16="http://schemas.microsoft.com/office/drawing/2014/main" val="2111152972"/>
                    </a:ext>
                  </a:extLst>
                </a:gridCol>
                <a:gridCol w="5338916">
                  <a:extLst>
                    <a:ext uri="{9D8B030D-6E8A-4147-A177-3AD203B41FA5}">
                      <a16:colId xmlns:a16="http://schemas.microsoft.com/office/drawing/2014/main" val="3921859564"/>
                    </a:ext>
                  </a:extLst>
                </a:gridCol>
              </a:tblGrid>
              <a:tr h="493589">
                <a:tc>
                  <a:txBody>
                    <a:bodyPr/>
                    <a:lstStyle/>
                    <a:p>
                      <a:pPr algn="ctr"/>
                      <a:r>
                        <a:rPr lang="en-IN" dirty="0">
                          <a:solidFill>
                            <a:schemeClr val="bg1"/>
                          </a:solidFill>
                        </a:rPr>
                        <a:t>SL NO.</a:t>
                      </a:r>
                    </a:p>
                  </a:txBody>
                  <a:tcPr/>
                </a:tc>
                <a:tc>
                  <a:txBody>
                    <a:bodyPr/>
                    <a:lstStyle/>
                    <a:p>
                      <a:pPr algn="ctr"/>
                      <a:r>
                        <a:rPr lang="en-IN" dirty="0"/>
                        <a:t>YEAR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AUTHOR</a:t>
                      </a:r>
                    </a:p>
                    <a:p>
                      <a:pPr algn="ctr"/>
                      <a:endParaRPr lang="en-IN" dirty="0"/>
                    </a:p>
                  </a:txBody>
                  <a:tcPr/>
                </a:tc>
                <a:tc>
                  <a:txBody>
                    <a:bodyPr/>
                    <a:lstStyle/>
                    <a:p>
                      <a:pPr algn="ctr"/>
                      <a:r>
                        <a:rPr lang="en-IN" dirty="0"/>
                        <a:t>TITLE</a:t>
                      </a:r>
                    </a:p>
                  </a:txBody>
                  <a:tcPr/>
                </a:tc>
                <a:tc>
                  <a:txBody>
                    <a:bodyPr/>
                    <a:lstStyle/>
                    <a:p>
                      <a:pPr algn="ctr"/>
                      <a:r>
                        <a:rPr lang="en-IN" dirty="0"/>
                        <a:t>METHODOLOGY</a:t>
                      </a:r>
                    </a:p>
                  </a:txBody>
                  <a:tcPr/>
                </a:tc>
                <a:extLst>
                  <a:ext uri="{0D108BD9-81ED-4DB2-BD59-A6C34878D82A}">
                    <a16:rowId xmlns:a16="http://schemas.microsoft.com/office/drawing/2014/main" val="3692082662"/>
                  </a:ext>
                </a:extLst>
              </a:tr>
            </a:tbl>
          </a:graphicData>
        </a:graphic>
      </p:graphicFrame>
      <p:graphicFrame>
        <p:nvGraphicFramePr>
          <p:cNvPr id="9" name="Table 8">
            <a:extLst>
              <a:ext uri="{FF2B5EF4-FFF2-40B4-BE49-F238E27FC236}">
                <a16:creationId xmlns:a16="http://schemas.microsoft.com/office/drawing/2014/main" id="{91F82E6A-224C-5891-2AD7-EBE5097CA6F3}"/>
              </a:ext>
            </a:extLst>
          </p:cNvPr>
          <p:cNvGraphicFramePr>
            <a:graphicFrameLocks noGrp="1"/>
          </p:cNvGraphicFramePr>
          <p:nvPr>
            <p:extLst>
              <p:ext uri="{D42A27DB-BD31-4B8C-83A1-F6EECF244321}">
                <p14:modId xmlns:p14="http://schemas.microsoft.com/office/powerpoint/2010/main" val="1339401732"/>
              </p:ext>
            </p:extLst>
          </p:nvPr>
        </p:nvGraphicFramePr>
        <p:xfrm>
          <a:off x="614516" y="1476427"/>
          <a:ext cx="11049000" cy="4495694"/>
        </p:xfrm>
        <a:graphic>
          <a:graphicData uri="http://schemas.openxmlformats.org/drawingml/2006/table">
            <a:tbl>
              <a:tblPr firstRow="1" bandRow="1">
                <a:tableStyleId>{5C22544A-7EE6-4342-B048-85BDC9FD1C3A}</a:tableStyleId>
              </a:tblPr>
              <a:tblGrid>
                <a:gridCol w="833284">
                  <a:extLst>
                    <a:ext uri="{9D8B030D-6E8A-4147-A177-3AD203B41FA5}">
                      <a16:colId xmlns:a16="http://schemas.microsoft.com/office/drawing/2014/main" val="3637921368"/>
                    </a:ext>
                  </a:extLst>
                </a:gridCol>
                <a:gridCol w="1066800">
                  <a:extLst>
                    <a:ext uri="{9D8B030D-6E8A-4147-A177-3AD203B41FA5}">
                      <a16:colId xmlns:a16="http://schemas.microsoft.com/office/drawing/2014/main" val="102048617"/>
                    </a:ext>
                  </a:extLst>
                </a:gridCol>
                <a:gridCol w="1752600">
                  <a:extLst>
                    <a:ext uri="{9D8B030D-6E8A-4147-A177-3AD203B41FA5}">
                      <a16:colId xmlns:a16="http://schemas.microsoft.com/office/drawing/2014/main" val="930994492"/>
                    </a:ext>
                  </a:extLst>
                </a:gridCol>
                <a:gridCol w="2057400">
                  <a:extLst>
                    <a:ext uri="{9D8B030D-6E8A-4147-A177-3AD203B41FA5}">
                      <a16:colId xmlns:a16="http://schemas.microsoft.com/office/drawing/2014/main" val="2640360840"/>
                    </a:ext>
                  </a:extLst>
                </a:gridCol>
                <a:gridCol w="5338916">
                  <a:extLst>
                    <a:ext uri="{9D8B030D-6E8A-4147-A177-3AD203B41FA5}">
                      <a16:colId xmlns:a16="http://schemas.microsoft.com/office/drawing/2014/main" val="2832872196"/>
                    </a:ext>
                  </a:extLst>
                </a:gridCol>
              </a:tblGrid>
              <a:tr h="1999611">
                <a:tc>
                  <a:txBody>
                    <a:bodyPr/>
                    <a:lstStyle/>
                    <a:p>
                      <a:pPr algn="ctr"/>
                      <a:r>
                        <a:rPr lang="en-IN" sz="1800" b="0" i="0" dirty="0">
                          <a:solidFill>
                            <a:schemeClr val="tx1"/>
                          </a:solidFill>
                          <a:latin typeface="Times New Roman" panose="02020603050405020304" pitchFamily="18" charset="0"/>
                          <a:cs typeface="Times New Roman" panose="02020603050405020304" pitchFamily="18" charset="0"/>
                        </a:rPr>
                        <a:t>3.</a:t>
                      </a:r>
                    </a:p>
                  </a:txBody>
                  <a:tcPr>
                    <a:solidFill>
                      <a:schemeClr val="accent1">
                        <a:lumMod val="40000"/>
                        <a:lumOff val="60000"/>
                      </a:schemeClr>
                    </a:solidFill>
                  </a:tcPr>
                </a:tc>
                <a:tc>
                  <a:txBody>
                    <a:bodyPr/>
                    <a:lstStyle/>
                    <a:p>
                      <a:pPr algn="ctr"/>
                      <a:r>
                        <a:rPr lang="en-US" sz="1800" b="0" i="0" dirty="0">
                          <a:solidFill>
                            <a:schemeClr val="tx1"/>
                          </a:solidFill>
                          <a:latin typeface="Times New Roman" panose="02020603050405020304" pitchFamily="18" charset="0"/>
                          <a:cs typeface="Times New Roman" panose="02020603050405020304" pitchFamily="18" charset="0"/>
                        </a:rPr>
                        <a:t>2025</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r>
                        <a:rPr lang="en-IN" sz="1800" b="0" i="0" kern="1200" dirty="0" err="1">
                          <a:solidFill>
                            <a:schemeClr val="tx1"/>
                          </a:solidFill>
                          <a:effectLst/>
                          <a:latin typeface="Times New Roman" panose="02020603050405020304" pitchFamily="18" charset="0"/>
                          <a:ea typeface="+mn-ea"/>
                          <a:cs typeface="Times New Roman" panose="02020603050405020304" pitchFamily="18" charset="0"/>
                        </a:rPr>
                        <a:t>Ghodake</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et al.</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Network Attached Storage Using Raspberry Pi</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Built Pi NAS with Samba/NFS + hybrid cloud backup (AWS/</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Nextcloud</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compared speeds &amp; cost.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Supports our design choices, hybrid cloud backup included in future scope.</a:t>
                      </a:r>
                      <a:endParaRPr lang="en-IN" sz="1800" b="0" i="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extLst>
                  <a:ext uri="{0D108BD9-81ED-4DB2-BD59-A6C34878D82A}">
                    <a16:rowId xmlns:a16="http://schemas.microsoft.com/office/drawing/2014/main" val="3521207188"/>
                  </a:ext>
                </a:extLst>
              </a:tr>
              <a:tr h="2496083">
                <a:tc>
                  <a:txBody>
                    <a:bodyPr/>
                    <a:lstStyle/>
                    <a:p>
                      <a:pPr algn="ctr"/>
                      <a:r>
                        <a:rPr lang="en-IN" sz="1800" b="0" i="0" dirty="0">
                          <a:solidFill>
                            <a:schemeClr val="tx1"/>
                          </a:solidFill>
                          <a:latin typeface="Times New Roman" panose="02020603050405020304" pitchFamily="18" charset="0"/>
                          <a:cs typeface="Times New Roman" panose="02020603050405020304" pitchFamily="18" charset="0"/>
                        </a:rPr>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Times New Roman" panose="02020603050405020304" pitchFamily="18" charset="0"/>
                          <a:cs typeface="Times New Roman" panose="02020603050405020304" pitchFamily="18" charset="0"/>
                        </a:rPr>
                        <a:t>2</a:t>
                      </a:r>
                      <a:r>
                        <a:rPr lang="en-IN" sz="1800" b="0" i="0" dirty="0">
                          <a:solidFill>
                            <a:schemeClr val="tx1"/>
                          </a:solidFill>
                          <a:latin typeface="Times New Roman" panose="02020603050405020304" pitchFamily="18" charset="0"/>
                          <a:cs typeface="Times New Roman" panose="02020603050405020304" pitchFamily="18" charset="0"/>
                        </a:rPr>
                        <a:t>025</a:t>
                      </a:r>
                    </a:p>
                    <a:p>
                      <a:pPr algn="ctr"/>
                      <a:endParaRPr lang="en-IN" sz="1800" b="0" i="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err="1">
                          <a:solidFill>
                            <a:schemeClr val="tx1"/>
                          </a:solidFill>
                          <a:effectLst/>
                          <a:latin typeface="Times New Roman" panose="02020603050405020304" pitchFamily="18" charset="0"/>
                          <a:ea typeface="+mn-ea"/>
                          <a:cs typeface="Times New Roman" panose="02020603050405020304" pitchFamily="18" charset="0"/>
                        </a:rPr>
                        <a:t>Gamess</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&amp; Hester</a:t>
                      </a:r>
                      <a:endParaRPr lang="en-IN" sz="1800" b="0" i="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Using a Raspberry Pi as a NAS</a:t>
                      </a:r>
                      <a:endParaRPr lang="en-IN" sz="1800" b="0" i="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Performance tests of Raspberry Pi NAS with SMB/NFS + encryption benchmarking.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kern="1200" baseline="0" dirty="0">
                        <a:solidFill>
                          <a:schemeClr val="tx1"/>
                        </a:solidFill>
                        <a:effectLst/>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Validates Pi 4/5 NAS performance, helps justify protocol selection and benchmarking in our work.</a:t>
                      </a:r>
                      <a:endParaRPr lang="en-IN" sz="1800" b="0" i="0" baseline="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4547391"/>
                  </a:ext>
                </a:extLst>
              </a:tr>
            </a:tbl>
          </a:graphicData>
        </a:graphic>
      </p:graphicFrame>
    </p:spTree>
    <p:extLst>
      <p:ext uri="{BB962C8B-B14F-4D97-AF65-F5344CB8AC3E}">
        <p14:creationId xmlns:p14="http://schemas.microsoft.com/office/powerpoint/2010/main" val="204731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8" name="Rectangle 7"/>
          <p:cNvSpPr/>
          <p:nvPr/>
        </p:nvSpPr>
        <p:spPr>
          <a:xfrm>
            <a:off x="4648200" y="722369"/>
            <a:ext cx="2895600" cy="892552"/>
          </a:xfrm>
          <a:prstGeom prst="rect">
            <a:avLst/>
          </a:prstGeom>
        </p:spPr>
        <p:txBody>
          <a:bodyPr wrap="square">
            <a:spAutoFit/>
          </a:bodyPr>
          <a:lstStyle/>
          <a:p>
            <a:r>
              <a:rPr lang="en-US" sz="2800" b="1" dirty="0">
                <a:latin typeface="Times New Roman" pitchFamily="18" charset="0"/>
                <a:cs typeface="Times New Roman" pitchFamily="18" charset="0"/>
              </a:rPr>
              <a:t>OBJECTIVES</a:t>
            </a:r>
          </a:p>
          <a:p>
            <a:r>
              <a:rPr lang="en-US" sz="2400" dirty="0">
                <a:latin typeface="Times New Roman" pitchFamily="18" charset="0"/>
                <a:cs typeface="Times New Roman" pitchFamily="18" charset="0"/>
              </a:rPr>
              <a:t>  </a:t>
            </a:r>
          </a:p>
        </p:txBody>
      </p:sp>
      <p:sp>
        <p:nvSpPr>
          <p:cNvPr id="4" name="TextBox 3">
            <a:extLst>
              <a:ext uri="{FF2B5EF4-FFF2-40B4-BE49-F238E27FC236}">
                <a16:creationId xmlns:a16="http://schemas.microsoft.com/office/drawing/2014/main" id="{311CF4CF-4A3E-1BB6-256F-E5BDE3E5E3DE}"/>
              </a:ext>
            </a:extLst>
          </p:cNvPr>
          <p:cNvSpPr txBox="1"/>
          <p:nvPr/>
        </p:nvSpPr>
        <p:spPr>
          <a:xfrm>
            <a:off x="723900" y="1447800"/>
            <a:ext cx="10744200" cy="4060214"/>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Develop a </a:t>
            </a:r>
            <a:r>
              <a:rPr lang="en-IN" sz="2200" b="1" dirty="0">
                <a:latin typeface="Times New Roman" panose="02020603050405020304" pitchFamily="18" charset="0"/>
                <a:cs typeface="Times New Roman" panose="02020603050405020304" pitchFamily="18" charset="0"/>
              </a:rPr>
              <a:t>cost‑efficient Raspberry Pi–based NAS</a:t>
            </a:r>
            <a:r>
              <a:rPr lang="en-IN" sz="2200" dirty="0">
                <a:latin typeface="Times New Roman" panose="02020603050405020304" pitchFamily="18" charset="0"/>
                <a:cs typeface="Times New Roman" panose="02020603050405020304" pitchFamily="18" charset="0"/>
              </a:rPr>
              <a:t> with centralized storage.</a:t>
            </a:r>
          </a:p>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Provide </a:t>
            </a:r>
            <a:r>
              <a:rPr lang="en-IN" sz="2200" b="1" dirty="0">
                <a:latin typeface="Times New Roman" panose="02020603050405020304" pitchFamily="18" charset="0"/>
                <a:cs typeface="Times New Roman" panose="02020603050405020304" pitchFamily="18" charset="0"/>
              </a:rPr>
              <a:t>secure multi‑platform access</a:t>
            </a:r>
            <a:r>
              <a:rPr lang="en-IN" sz="2200" dirty="0">
                <a:latin typeface="Times New Roman" panose="02020603050405020304" pitchFamily="18" charset="0"/>
                <a:cs typeface="Times New Roman" panose="02020603050405020304" pitchFamily="18" charset="0"/>
              </a:rPr>
              <a:t> using SMB/NFS protocols.</a:t>
            </a:r>
          </a:p>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Improve </a:t>
            </a:r>
            <a:r>
              <a:rPr lang="en-IN" sz="2200" b="1" dirty="0">
                <a:latin typeface="Times New Roman" panose="02020603050405020304" pitchFamily="18" charset="0"/>
                <a:cs typeface="Times New Roman" panose="02020603050405020304" pitchFamily="18" charset="0"/>
              </a:rPr>
              <a:t>network performance</a:t>
            </a:r>
            <a:r>
              <a:rPr lang="en-IN" sz="2200" dirty="0">
                <a:latin typeface="Times New Roman" panose="02020603050405020304" pitchFamily="18" charset="0"/>
                <a:cs typeface="Times New Roman" panose="02020603050405020304" pitchFamily="18" charset="0"/>
              </a:rPr>
              <a:t> via USB 3.0 storage + Gigabit Ethernet.</a:t>
            </a:r>
          </a:p>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Implement </a:t>
            </a:r>
            <a:r>
              <a:rPr lang="en-IN" sz="2200" b="1" dirty="0">
                <a:latin typeface="Times New Roman" panose="02020603050405020304" pitchFamily="18" charset="0"/>
                <a:cs typeface="Times New Roman" panose="02020603050405020304" pitchFamily="18" charset="0"/>
              </a:rPr>
              <a:t>data protection</a:t>
            </a:r>
            <a:r>
              <a:rPr lang="en-IN" sz="2200" dirty="0">
                <a:latin typeface="Times New Roman" panose="02020603050405020304" pitchFamily="18" charset="0"/>
                <a:cs typeface="Times New Roman" panose="02020603050405020304" pitchFamily="18" charset="0"/>
              </a:rPr>
              <a:t> using backup automation and monitoring.</a:t>
            </a:r>
          </a:p>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Test </a:t>
            </a:r>
            <a:r>
              <a:rPr lang="en-IN" sz="2200" b="1" dirty="0">
                <a:latin typeface="Times New Roman" panose="02020603050405020304" pitchFamily="18" charset="0"/>
                <a:cs typeface="Times New Roman" panose="02020603050405020304" pitchFamily="18" charset="0"/>
              </a:rPr>
              <a:t>multi‑user scalability</a:t>
            </a:r>
            <a:r>
              <a:rPr lang="en-IN" sz="2200" dirty="0">
                <a:latin typeface="Times New Roman" panose="02020603050405020304" pitchFamily="18" charset="0"/>
                <a:cs typeface="Times New Roman" panose="02020603050405020304" pitchFamily="18" charset="0"/>
              </a:rPr>
              <a:t> and LAN transfer performance.</a:t>
            </a:r>
          </a:p>
          <a:p>
            <a:pPr marL="285750" indent="-285750">
              <a:lnSpc>
                <a:spcPct val="20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Ensure </a:t>
            </a:r>
            <a:r>
              <a:rPr lang="en-IN" sz="2200" b="1" dirty="0">
                <a:latin typeface="Times New Roman" panose="02020603050405020304" pitchFamily="18" charset="0"/>
                <a:cs typeface="Times New Roman" panose="02020603050405020304" pitchFamily="18" charset="0"/>
              </a:rPr>
              <a:t>low‑power 24×7 operation</a:t>
            </a:r>
            <a:r>
              <a:rPr lang="en-IN" sz="2200" dirty="0">
                <a:latin typeface="Times New Roman" panose="02020603050405020304" pitchFamily="18" charset="0"/>
                <a:cs typeface="Times New Roman" panose="02020603050405020304" pitchFamily="18" charset="0"/>
              </a:rPr>
              <a:t> and compare efficiency with commercial NAS.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D21A7-C96A-2DB9-0CED-62402288F8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7D6D36-6DB3-B55C-B0E8-8E0095BE4A7D}"/>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755B4B19-D286-46B8-15ED-2B63D6F881E6}"/>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21" name="TextBox 20">
            <a:extLst>
              <a:ext uri="{FF2B5EF4-FFF2-40B4-BE49-F238E27FC236}">
                <a16:creationId xmlns:a16="http://schemas.microsoft.com/office/drawing/2014/main" id="{FA603667-9DBC-C19D-0204-EC62493939CF}"/>
              </a:ext>
            </a:extLst>
          </p:cNvPr>
          <p:cNvSpPr txBox="1"/>
          <p:nvPr/>
        </p:nvSpPr>
        <p:spPr>
          <a:xfrm>
            <a:off x="4092887" y="609600"/>
            <a:ext cx="4006225"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8B41164-0678-44C0-BB2C-0127727C5504}"/>
              </a:ext>
            </a:extLst>
          </p:cNvPr>
          <p:cNvSpPr>
            <a:spLocks noChangeArrowheads="1"/>
          </p:cNvSpPr>
          <p:nvPr/>
        </p:nvSpPr>
        <p:spPr bwMode="auto">
          <a:xfrm>
            <a:off x="1295399" y="1226434"/>
            <a:ext cx="9601200"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Layered System Methodology (System Design Layers)</a:t>
            </a:r>
          </a:p>
          <a:p>
            <a:pPr marL="342900" indent="-342900">
              <a:buFont typeface="Wingdings" panose="05000000000000000000" pitchFamily="2" charset="2"/>
              <a:buChar char="q"/>
            </a:pPr>
            <a:endParaRPr lang="en-IN" sz="15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Client Layer – React SPA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Secure UI for login &amp; file operations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Communicates via HTTPS REST APIs</a:t>
            </a:r>
          </a:p>
          <a:p>
            <a:pPr marL="800100" lvl="1" indent="-342900">
              <a:buFont typeface="Wingdings" panose="05000000000000000000" pitchFamily="2" charset="2"/>
              <a:buChar char="q"/>
            </a:pPr>
            <a:endParaRPr lang="en-IN" sz="1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Reverse Proxy Layer – Nginx/Caddy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SSL/TLS termination, rate limiting &amp; caching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Secure routing to backend services</a:t>
            </a:r>
          </a:p>
          <a:p>
            <a:pPr marL="800100" lvl="1" indent="-342900">
              <a:buFont typeface="Wingdings" panose="05000000000000000000" pitchFamily="2" charset="2"/>
              <a:buChar char="q"/>
            </a:pPr>
            <a:endParaRPr lang="en-IN" sz="1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Backend Service Layer – Node.js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Authentication with Email/Password + Google OAuth</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JWT-secured APIs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Controllers for file/folder operations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Account + quota management with RBAC</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Background job scheduler for data cleanup</a:t>
            </a:r>
          </a:p>
        </p:txBody>
      </p:sp>
    </p:spTree>
    <p:extLst>
      <p:ext uri="{BB962C8B-B14F-4D97-AF65-F5344CB8AC3E}">
        <p14:creationId xmlns:p14="http://schemas.microsoft.com/office/powerpoint/2010/main" val="1956087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D21A7-C96A-2DB9-0CED-62402288F8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7D6D36-6DB3-B55C-B0E8-8E0095BE4A7D}"/>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755B4B19-D286-46B8-15ED-2B63D6F881E6}"/>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21" name="TextBox 20">
            <a:extLst>
              <a:ext uri="{FF2B5EF4-FFF2-40B4-BE49-F238E27FC236}">
                <a16:creationId xmlns:a16="http://schemas.microsoft.com/office/drawing/2014/main" id="{FA603667-9DBC-C19D-0204-EC62493939CF}"/>
              </a:ext>
            </a:extLst>
          </p:cNvPr>
          <p:cNvSpPr txBox="1"/>
          <p:nvPr/>
        </p:nvSpPr>
        <p:spPr>
          <a:xfrm>
            <a:off x="4092887" y="609600"/>
            <a:ext cx="4006225"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23E6376-1C3C-CD61-E48B-C6BD784A31BD}"/>
              </a:ext>
            </a:extLst>
          </p:cNvPr>
          <p:cNvSpPr txBox="1"/>
          <p:nvPr/>
        </p:nvSpPr>
        <p:spPr>
          <a:xfrm>
            <a:off x="1981199" y="1600200"/>
            <a:ext cx="8229600" cy="4247317"/>
          </a:xfrm>
          <a:prstGeom prst="rect">
            <a:avLst/>
          </a:prstGeom>
          <a:noFill/>
        </p:spPr>
        <p:txBody>
          <a:bodyPr wrap="square" rtlCol="0">
            <a:spAutoFit/>
          </a:bodyPr>
          <a:lstStyle/>
          <a:p>
            <a:pPr marL="342900"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Data &amp; Storage Flow</a:t>
            </a:r>
          </a:p>
          <a:p>
            <a:pPr marL="342900" indent="-342900">
              <a:buFont typeface="Wingdings" panose="05000000000000000000" pitchFamily="2" charset="2"/>
              <a:buChar char="q"/>
            </a:pPr>
            <a:endParaRPr lang="en-IN" sz="15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Database Layer – PostgreSQL + Prisma ORM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Users, files, folders, metadata, tokens &amp; quota tracking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Optimized metadata I/O performance</a:t>
            </a:r>
          </a:p>
          <a:p>
            <a:pPr marL="800100" lvl="1"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Storage Layer – Linux Filesystem + RAID1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Real file storage with redundancy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High-performance streaming upload/download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Soft delete + 30-day retention purge automation</a:t>
            </a:r>
          </a:p>
          <a:p>
            <a:pPr marL="800100" lvl="1"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External Integration Layer – Google OAuth 2.0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Secure identity verification via token exchange</a:t>
            </a:r>
          </a:p>
        </p:txBody>
      </p:sp>
    </p:spTree>
    <p:extLst>
      <p:ext uri="{BB962C8B-B14F-4D97-AF65-F5344CB8AC3E}">
        <p14:creationId xmlns:p14="http://schemas.microsoft.com/office/powerpoint/2010/main" val="3739176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5389-B861-8C99-A4E8-1450BA3479C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4A9632-FDF6-FCDE-B2D8-32651C954EE1}"/>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43CD4D78-9EA3-6D30-0F3D-468D0D0CC1CC}"/>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3" name="TextBox 2">
            <a:extLst>
              <a:ext uri="{FF2B5EF4-FFF2-40B4-BE49-F238E27FC236}">
                <a16:creationId xmlns:a16="http://schemas.microsoft.com/office/drawing/2014/main" id="{BCBE8AB1-5386-D7E0-6310-9D15994F469B}"/>
              </a:ext>
            </a:extLst>
          </p:cNvPr>
          <p:cNvSpPr txBox="1"/>
          <p:nvPr/>
        </p:nvSpPr>
        <p:spPr>
          <a:xfrm>
            <a:off x="4038600" y="533400"/>
            <a:ext cx="41148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8" name="AutoShape 2">
            <a:extLst>
              <a:ext uri="{FF2B5EF4-FFF2-40B4-BE49-F238E27FC236}">
                <a16:creationId xmlns:a16="http://schemas.microsoft.com/office/drawing/2014/main" id="{1F40D9CC-09D6-3D29-E48A-FBBFB9E8C3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E0289886-B4CC-EE26-8BC4-8602B48C74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157608"/>
            <a:ext cx="9601200" cy="5241280"/>
          </a:xfrm>
          <a:prstGeom prst="rect">
            <a:avLst/>
          </a:prstGeom>
        </p:spPr>
      </p:pic>
    </p:spTree>
    <p:extLst>
      <p:ext uri="{BB962C8B-B14F-4D97-AF65-F5344CB8AC3E}">
        <p14:creationId xmlns:p14="http://schemas.microsoft.com/office/powerpoint/2010/main" val="3791164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9D7C-1F07-6F54-452A-C72F08E2FC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020C6A-BDEF-E52A-3AC2-2218AB92A757}"/>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0896AEA4-4C7B-F164-8BE7-6ED88E639951}"/>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5" name="TextBox 4">
            <a:extLst>
              <a:ext uri="{FF2B5EF4-FFF2-40B4-BE49-F238E27FC236}">
                <a16:creationId xmlns:a16="http://schemas.microsoft.com/office/drawing/2014/main" id="{E97DA38C-3289-BF5F-F23F-6F335BA08075}"/>
              </a:ext>
            </a:extLst>
          </p:cNvPr>
          <p:cNvSpPr txBox="1"/>
          <p:nvPr/>
        </p:nvSpPr>
        <p:spPr>
          <a:xfrm>
            <a:off x="685800" y="685800"/>
            <a:ext cx="104394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A2BB9D-BCD6-49A0-B7B8-0F823AA27606}"/>
              </a:ext>
            </a:extLst>
          </p:cNvPr>
          <p:cNvSpPr txBox="1"/>
          <p:nvPr/>
        </p:nvSpPr>
        <p:spPr>
          <a:xfrm>
            <a:off x="838200" y="1524000"/>
            <a:ext cx="10925175" cy="3374770"/>
          </a:xfrm>
          <a:prstGeom prst="rect">
            <a:avLst/>
          </a:prstGeom>
          <a:noFill/>
        </p:spPr>
        <p:txBody>
          <a:bodyPr wrap="square" rtlCol="0">
            <a:spAutoFit/>
          </a:bodyPr>
          <a:lstStyle/>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Successfully deployed a secure, self-hosted cloud storage system on Raspberry Pi 5.</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Achieved authenticated access with Email/Password, Google OAuth, and JWT security.</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Delivered reliable file operations with metadata tracking and quota enforcement.</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Implemented RAID1 storage for redundancy and data protection.</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Ensured high performance and scalable architecture for future enhancements.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95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7C6B7-3868-86EC-7FD9-AEAF61BAB8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A3A1F7-048D-BB74-8752-44A74B88FBD0}"/>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2E47BB04-9204-AD1B-3E98-AC911B8CE4DA}"/>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8" name="Rectangle 7">
            <a:extLst>
              <a:ext uri="{FF2B5EF4-FFF2-40B4-BE49-F238E27FC236}">
                <a16:creationId xmlns:a16="http://schemas.microsoft.com/office/drawing/2014/main" id="{282E6F4E-3968-AEB2-CA40-06B822A44EF3}"/>
              </a:ext>
            </a:extLst>
          </p:cNvPr>
          <p:cNvSpPr/>
          <p:nvPr/>
        </p:nvSpPr>
        <p:spPr>
          <a:xfrm>
            <a:off x="4114800" y="133052"/>
            <a:ext cx="3733800" cy="2000548"/>
          </a:xfrm>
          <a:prstGeom prst="rect">
            <a:avLst/>
          </a:prstGeom>
        </p:spPr>
        <p:txBody>
          <a:bodyPr wrap="square">
            <a:spAutoFit/>
          </a:bodyPr>
          <a:lstStyle/>
          <a:p>
            <a:r>
              <a:rPr lang="en-US" sz="3600" b="1" dirty="0">
                <a:latin typeface="Times New Roman" pitchFamily="18" charset="0"/>
                <a:cs typeface="Times New Roman" pitchFamily="18" charset="0"/>
              </a:rPr>
              <a:t>                             CONCLUSION  </a:t>
            </a:r>
            <a:endParaRPr lang="en-US" sz="2800" b="1" dirty="0"/>
          </a:p>
          <a:p>
            <a:endParaRPr lang="en-US" sz="2800" b="1" dirty="0">
              <a:latin typeface="Times New Roman" pitchFamily="18" charset="0"/>
              <a:cs typeface="Times New Roman" pitchFamily="18" charset="0"/>
            </a:endParaRPr>
          </a:p>
          <a:p>
            <a:r>
              <a:rPr lang="en-US" sz="2400" dirty="0">
                <a:latin typeface="Times New Roman" pitchFamily="18" charset="0"/>
                <a:cs typeface="Times New Roman" pitchFamily="18" charset="0"/>
              </a:rPr>
              <a:t>  </a:t>
            </a:r>
          </a:p>
        </p:txBody>
      </p:sp>
      <p:sp>
        <p:nvSpPr>
          <p:cNvPr id="3" name="Rectangle 1">
            <a:extLst>
              <a:ext uri="{FF2B5EF4-FFF2-40B4-BE49-F238E27FC236}">
                <a16:creationId xmlns:a16="http://schemas.microsoft.com/office/drawing/2014/main" id="{BBD39DD4-255C-9C46-479D-D6079479B97F}"/>
              </a:ext>
            </a:extLst>
          </p:cNvPr>
          <p:cNvSpPr>
            <a:spLocks noChangeArrowheads="1"/>
          </p:cNvSpPr>
          <p:nvPr/>
        </p:nvSpPr>
        <p:spPr bwMode="auto">
          <a:xfrm>
            <a:off x="609600" y="1403061"/>
            <a:ext cx="10972800" cy="405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developed a secure personal cloud storage system using Raspberry Pi.</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RAID1 storage for data redundancy and protection against disk failure.</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Provided authenticated and controlled access using Email/Password + Google OAuth.</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efficient file upload, download, and metadata handling.</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user privacy and complete ownership of stored data.</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a modular architecture allowing future feature expansion.</a:t>
            </a:r>
          </a:p>
        </p:txBody>
      </p:sp>
    </p:spTree>
    <p:extLst>
      <p:ext uri="{BB962C8B-B14F-4D97-AF65-F5344CB8AC3E}">
        <p14:creationId xmlns:p14="http://schemas.microsoft.com/office/powerpoint/2010/main" val="258343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2D41-6386-2A4B-820F-86FA7869C40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C43ECB-F6D3-AAD2-BC4C-E32FFDF857C5}"/>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7" name="Rectangle 6">
            <a:extLst>
              <a:ext uri="{FF2B5EF4-FFF2-40B4-BE49-F238E27FC236}">
                <a16:creationId xmlns:a16="http://schemas.microsoft.com/office/drawing/2014/main" id="{DF0B48E8-B896-7535-ADC8-52F28828DCA9}"/>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4" name="TextBox 3">
            <a:extLst>
              <a:ext uri="{FF2B5EF4-FFF2-40B4-BE49-F238E27FC236}">
                <a16:creationId xmlns:a16="http://schemas.microsoft.com/office/drawing/2014/main" id="{3BEA3ACB-157C-267C-4EA2-87371862CAB7}"/>
              </a:ext>
            </a:extLst>
          </p:cNvPr>
          <p:cNvSpPr txBox="1"/>
          <p:nvPr/>
        </p:nvSpPr>
        <p:spPr>
          <a:xfrm>
            <a:off x="685799" y="1600200"/>
            <a:ext cx="10820400" cy="3374770"/>
          </a:xfrm>
          <a:prstGeom prst="rect">
            <a:avLst/>
          </a:prstGeom>
          <a:noFill/>
        </p:spPr>
        <p:txBody>
          <a:bodyPr wrap="square">
            <a:spAutoFit/>
          </a:bodyPr>
          <a:lstStyle/>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Implement file and folder sharing with access permissions.</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Add file versioning and recovery history.</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Enable remote access over the internet using secure tunneling / domain.</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Integrate mobile apps for Android/iOS for seamless usage.</a:t>
            </a:r>
          </a:p>
          <a:p>
            <a:pPr marL="342900" lvl="0" indent="-342900" algn="just" eaLnBrk="0" fontAlgn="base" hangingPunct="0">
              <a:lnSpc>
                <a:spcPct val="200000"/>
              </a:lnSpc>
              <a:spcBef>
                <a:spcPct val="0"/>
              </a:spcBef>
              <a:spcAft>
                <a:spcPct val="0"/>
              </a:spcAft>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Introduce AI-based duplicate and large file detection for storage optimization.</a:t>
            </a:r>
            <a:endParaRPr kumimoji="0" lang="en-US" altLang="en-US" sz="22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05E651-7D56-6691-8856-790CD76A5911}"/>
              </a:ext>
            </a:extLst>
          </p:cNvPr>
          <p:cNvSpPr txBox="1"/>
          <p:nvPr/>
        </p:nvSpPr>
        <p:spPr>
          <a:xfrm>
            <a:off x="3886200" y="808849"/>
            <a:ext cx="3852337" cy="646331"/>
          </a:xfrm>
          <a:prstGeom prst="rect">
            <a:avLst/>
          </a:prstGeom>
          <a:noFill/>
        </p:spPr>
        <p:txBody>
          <a:bodyPr wrap="none" rtlCol="0">
            <a:spAutoFit/>
          </a:bodyPr>
          <a:lstStyle/>
          <a:p>
            <a:pPr algn="ctr"/>
            <a:r>
              <a:rPr lang="en-US" sz="3600" b="1" dirty="0">
                <a:latin typeface="Times New Roman" panose="02020603050405020304" pitchFamily="18" charset="0"/>
                <a:ea typeface="Tahoma" panose="020B0604030504040204" pitchFamily="34" charset="0"/>
                <a:cs typeface="Times New Roman" panose="02020603050405020304" pitchFamily="18" charset="0"/>
              </a:rPr>
              <a:t> FUTURE SCOPE</a:t>
            </a:r>
            <a:endParaRPr lang="en-IN" sz="3600" b="1"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702338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4" name="Rectangle 3"/>
          <p:cNvSpPr/>
          <p:nvPr/>
        </p:nvSpPr>
        <p:spPr>
          <a:xfrm>
            <a:off x="4038600" y="553693"/>
            <a:ext cx="5181599" cy="646331"/>
          </a:xfrm>
          <a:prstGeom prst="rect">
            <a:avLst/>
          </a:prstGeom>
        </p:spPr>
        <p:txBody>
          <a:bodyPr wrap="square">
            <a:spAutoFit/>
          </a:bodyPr>
          <a:lstStyle/>
          <a:p>
            <a:r>
              <a:rPr lang="en-US" sz="2800" b="1" dirty="0"/>
              <a:t>   </a:t>
            </a:r>
            <a:r>
              <a:rPr lang="en-US" sz="3600" b="1" dirty="0">
                <a:latin typeface="Times New Roman" pitchFamily="18" charset="0"/>
                <a:cs typeface="Times New Roman" pitchFamily="18" charset="0"/>
              </a:rPr>
              <a:t>REFERENCES</a:t>
            </a:r>
            <a:endParaRPr lang="en-US" sz="3600" dirty="0">
              <a:latin typeface="Times New Roman" pitchFamily="18" charset="0"/>
              <a:cs typeface="Times New Roman" pitchFamily="18" charset="0"/>
            </a:endParaRPr>
          </a:p>
        </p:txBody>
      </p:sp>
      <p:sp>
        <p:nvSpPr>
          <p:cNvPr id="5" name="Rectangle 4"/>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sp>
        <p:nvSpPr>
          <p:cNvPr id="7" name="Rectangle 6"/>
          <p:cNvSpPr/>
          <p:nvPr/>
        </p:nvSpPr>
        <p:spPr>
          <a:xfrm>
            <a:off x="838200" y="1600200"/>
            <a:ext cx="10363200" cy="3785652"/>
          </a:xfrm>
          <a:prstGeom prst="rect">
            <a:avLst/>
          </a:prstGeom>
        </p:spPr>
        <p:txBody>
          <a:bodyPr wrap="square">
            <a:spAutoFit/>
          </a:bodyPr>
          <a:lstStyle/>
          <a:p>
            <a:pPr marL="342900" indent="-34290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Barrett, D., &amp; Silverman, A. (2015). </a:t>
            </a:r>
            <a:r>
              <a:rPr lang="en-IN" sz="2000" i="1" dirty="0">
                <a:latin typeface="Times New Roman" panose="02020603050405020304" pitchFamily="18" charset="0"/>
                <a:cs typeface="Times New Roman" panose="02020603050405020304" pitchFamily="18" charset="0"/>
              </a:rPr>
              <a:t>Raspberry Pi server essentials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Packt</a:t>
            </a:r>
            <a:r>
              <a:rPr lang="en-IN" sz="2000" dirty="0">
                <a:latin typeface="Times New Roman" panose="02020603050405020304" pitchFamily="18" charset="0"/>
                <a:cs typeface="Times New Roman" panose="02020603050405020304" pitchFamily="18" charset="0"/>
              </a:rPr>
              <a:t> Publishing.</a:t>
            </a:r>
          </a:p>
          <a:p>
            <a:pPr marL="342900"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Bishop, M. (2019). </a:t>
            </a:r>
            <a:r>
              <a:rPr lang="en-IN" sz="2000" i="1" dirty="0">
                <a:latin typeface="Times New Roman" panose="02020603050405020304" pitchFamily="18" charset="0"/>
                <a:cs typeface="Times New Roman" panose="02020603050405020304" pitchFamily="18" charset="0"/>
              </a:rPr>
              <a:t>Computer security: Art and science</a:t>
            </a:r>
            <a:r>
              <a:rPr lang="en-IN" sz="2000" dirty="0">
                <a:latin typeface="Times New Roman" panose="02020603050405020304" pitchFamily="18" charset="0"/>
                <a:cs typeface="Times New Roman" panose="02020603050405020304" pitchFamily="18" charset="0"/>
              </a:rPr>
              <a:t> (2nd ed.). Addison‑Wesley.</a:t>
            </a:r>
          </a:p>
          <a:p>
            <a:pPr marL="342900"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Google Developers. (n.d.). </a:t>
            </a:r>
            <a:r>
              <a:rPr lang="en-IN" sz="2000" i="1" dirty="0">
                <a:latin typeface="Times New Roman" panose="02020603050405020304" pitchFamily="18" charset="0"/>
                <a:cs typeface="Times New Roman" panose="02020603050405020304" pitchFamily="18" charset="0"/>
              </a:rPr>
              <a:t>Google Identity &amp; OAuth 2.0 documentation</a:t>
            </a:r>
            <a:r>
              <a:rPr lang="en-IN" sz="2000" dirty="0">
                <a:latin typeface="Times New Roman" panose="02020603050405020304" pitchFamily="18" charset="0"/>
                <a:cs typeface="Times New Roman" panose="02020603050405020304" pitchFamily="18" charset="0"/>
              </a:rPr>
              <a:t>. Retrieved December 5, 2025, from https://developers.google.com/identity</a:t>
            </a:r>
          </a:p>
          <a:p>
            <a:pPr marL="342900"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Linux Kernel Organization. (n.d.). </a:t>
            </a:r>
            <a:r>
              <a:rPr lang="en-IN" sz="2000" i="1" dirty="0">
                <a:latin typeface="Times New Roman" panose="02020603050405020304" pitchFamily="18" charset="0"/>
                <a:cs typeface="Times New Roman" panose="02020603050405020304" pitchFamily="18" charset="0"/>
              </a:rPr>
              <a:t>Linux software RAID (</a:t>
            </a:r>
            <a:r>
              <a:rPr lang="en-IN" sz="2000" i="1" dirty="0" err="1">
                <a:latin typeface="Times New Roman" panose="02020603050405020304" pitchFamily="18" charset="0"/>
                <a:cs typeface="Times New Roman" panose="02020603050405020304" pitchFamily="18" charset="0"/>
              </a:rPr>
              <a:t>mdadm</a:t>
            </a:r>
            <a:r>
              <a:rPr lang="en-IN" sz="2000" i="1" dirty="0">
                <a:latin typeface="Times New Roman" panose="02020603050405020304" pitchFamily="18" charset="0"/>
                <a:cs typeface="Times New Roman" panose="02020603050405020304" pitchFamily="18" charset="0"/>
              </a:rPr>
              <a:t>) documentation</a:t>
            </a:r>
            <a:r>
              <a:rPr lang="en-IN" sz="2000" dirty="0">
                <a:latin typeface="Times New Roman" panose="02020603050405020304" pitchFamily="18" charset="0"/>
                <a:cs typeface="Times New Roman" panose="02020603050405020304" pitchFamily="18" charset="0"/>
              </a:rPr>
              <a:t>. Retrieved December 5, 2025, from https://www.kernel.org/doc/</a:t>
            </a:r>
          </a:p>
          <a:p>
            <a:pPr marL="342900" indent="-342900">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NGINX Inc. (n.d.). </a:t>
            </a:r>
            <a:r>
              <a:rPr lang="en-IN" sz="2000" i="1" dirty="0">
                <a:latin typeface="Times New Roman" panose="02020603050405020304" pitchFamily="18" charset="0"/>
                <a:cs typeface="Times New Roman" panose="02020603050405020304" pitchFamily="18" charset="0"/>
              </a:rPr>
              <a:t>NGINX reverse proxy guide</a:t>
            </a:r>
            <a:r>
              <a:rPr lang="en-IN" sz="2000" dirty="0">
                <a:latin typeface="Times New Roman" panose="02020603050405020304" pitchFamily="18" charset="0"/>
                <a:cs typeface="Times New Roman" panose="02020603050405020304" pitchFamily="18" charset="0"/>
              </a:rPr>
              <a:t>. Retrieved December 5, 2025, from https://nginx.org/en/docs/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277B-3D20-DE1B-D355-BEA1053FA1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553F57-348B-3573-BB05-395B70606D6A}"/>
              </a:ext>
            </a:extLst>
          </p:cNvPr>
          <p:cNvSpPr/>
          <p:nvPr/>
        </p:nvSpPr>
        <p:spPr>
          <a:xfrm>
            <a:off x="0" y="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BANGALORE INSTITUTE OF TECHNOLOGY</a:t>
            </a:r>
          </a:p>
        </p:txBody>
      </p:sp>
      <p:sp>
        <p:nvSpPr>
          <p:cNvPr id="5" name="Rectangle 4">
            <a:extLst>
              <a:ext uri="{FF2B5EF4-FFF2-40B4-BE49-F238E27FC236}">
                <a16:creationId xmlns:a16="http://schemas.microsoft.com/office/drawing/2014/main" id="{CBFE216A-6D07-B5A4-FBA6-2B43EC33FFB7}"/>
              </a:ext>
            </a:extLst>
          </p:cNvPr>
          <p:cNvSpPr/>
          <p:nvPr/>
        </p:nvSpPr>
        <p:spPr>
          <a:xfrm>
            <a:off x="0" y="6477000"/>
            <a:ext cx="12192000" cy="381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DEPARTMENT OF ELECTRONICS AND COMMUNICATION ENGINEERING</a:t>
            </a:r>
          </a:p>
        </p:txBody>
      </p:sp>
      <p:pic>
        <p:nvPicPr>
          <p:cNvPr id="8" name="Picture 7">
            <a:extLst>
              <a:ext uri="{FF2B5EF4-FFF2-40B4-BE49-F238E27FC236}">
                <a16:creationId xmlns:a16="http://schemas.microsoft.com/office/drawing/2014/main" id="{DBAE52A0-39F1-7637-3A64-E167E5EA8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2180650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4378</TotalTime>
  <Words>1634</Words>
  <Application>Microsoft Office PowerPoint</Application>
  <PresentationFormat>Widescreen</PresentationFormat>
  <Paragraphs>221</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Computer</dc:creator>
  <cp:lastModifiedBy>Aditya S Gowda</cp:lastModifiedBy>
  <cp:revision>67</cp:revision>
  <dcterms:created xsi:type="dcterms:W3CDTF">2006-08-16T00:00:00Z</dcterms:created>
  <dcterms:modified xsi:type="dcterms:W3CDTF">2026-01-09T12:34:15Z</dcterms:modified>
</cp:coreProperties>
</file>